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JetBrains Mono" panose="020B0604020202020204" charset="0"/>
      <p:regular r:id="rId13"/>
    </p:embeddedFont>
    <p:embeddedFont>
      <p:font typeface="JetBrains Mono Bold" panose="020B0604020202020204" charset="0"/>
      <p:regular r:id="rId14"/>
    </p:embeddedFont>
    <p:embeddedFont>
      <p:font typeface="JetBrains Mono Medium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1" d="100"/>
          <a:sy n="41" d="100"/>
        </p:scale>
        <p:origin x="82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24.09.2026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7090B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-20" y="146599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2141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14381" y="876300"/>
            <a:ext cx="10058152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77">
                <a:solidFill>
                  <a:srgbClr val="B6E35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A&gt;_</a:t>
            </a:r>
            <a:r>
              <a:rPr lang="en-US" sz="1575" spc="77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/project/disease-risk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381" y="1822999"/>
            <a:ext cx="9143771" cy="161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2"/>
              </a:lnSpc>
            </a:pPr>
            <a:r>
              <a:rPr lang="en-US" sz="6900" b="1" spc="-172">
                <a:solidFill>
                  <a:srgbClr val="F2F0E8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DISEASE RISK</a:t>
            </a:r>
          </a:p>
          <a:p>
            <a:pPr algn="l">
              <a:lnSpc>
                <a:spcPts val="6872"/>
              </a:lnSpc>
            </a:pPr>
            <a:r>
              <a:rPr lang="en-US" sz="6900" b="1" spc="-172">
                <a:solidFill>
                  <a:srgbClr val="F2F0E8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PREDICTION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381" y="3785149"/>
            <a:ext cx="9143771" cy="1276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78"/>
              </a:lnSpc>
            </a:pPr>
            <a:r>
              <a:rPr lang="en-US" sz="5400" spc="324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USING STATISTICAL MODELLING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381" y="5290099"/>
            <a:ext cx="10058152" cy="461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Statistical Modeling for Machine Learning (SML)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4381" y="8247012"/>
            <a:ext cx="9143771" cy="5414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 dirty="0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Agnel Polytechnic · Department of Artificial Intelligence &amp; Machine Learning · Academic Year 2026–27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BE0DCD-F3EB-B851-AD55-FF88F06EED7D}"/>
              </a:ext>
            </a:extLst>
          </p:cNvPr>
          <p:cNvSpPr txBox="1"/>
          <p:nvPr/>
        </p:nvSpPr>
        <p:spPr>
          <a:xfrm>
            <a:off x="774782" y="5974850"/>
            <a:ext cx="9422968" cy="2105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11"/>
              </a:lnSpc>
            </a:pPr>
            <a:r>
              <a:rPr lang="en-US" sz="3200" spc="15" dirty="0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·Nirbhay More  (25935)</a:t>
            </a:r>
          </a:p>
          <a:p>
            <a:pPr>
              <a:lnSpc>
                <a:spcPts val="2211"/>
              </a:lnSpc>
            </a:pPr>
            <a:endParaRPr lang="en-US" sz="3200" spc="15" dirty="0">
              <a:solidFill>
                <a:srgbClr val="89919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>
              <a:lnSpc>
                <a:spcPts val="2211"/>
              </a:lnSpc>
            </a:pPr>
            <a:r>
              <a:rPr lang="en-US" sz="3200" spc="15" dirty="0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·Gaus Mulla    (25936)</a:t>
            </a:r>
          </a:p>
          <a:p>
            <a:pPr algn="l">
              <a:lnSpc>
                <a:spcPts val="2211"/>
              </a:lnSpc>
            </a:pPr>
            <a:endParaRPr lang="en-US" sz="3200" spc="15" dirty="0">
              <a:solidFill>
                <a:srgbClr val="89919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>
              <a:lnSpc>
                <a:spcPts val="2211"/>
              </a:lnSpc>
            </a:pPr>
            <a:r>
              <a:rPr lang="en-US" sz="3200" spc="15" dirty="0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·Gitesh </a:t>
            </a:r>
            <a:r>
              <a:rPr lang="en-US" sz="3200" spc="15" dirty="0" err="1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Netkar</a:t>
            </a:r>
            <a:r>
              <a:rPr lang="en-US" sz="3200" spc="15" dirty="0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(25938) </a:t>
            </a:r>
          </a:p>
          <a:p>
            <a:pPr algn="l">
              <a:lnSpc>
                <a:spcPts val="2211"/>
              </a:lnSpc>
            </a:pPr>
            <a:endParaRPr lang="en-US" sz="3200" spc="15" dirty="0">
              <a:solidFill>
                <a:srgbClr val="89919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>
              <a:lnSpc>
                <a:spcPts val="2211"/>
              </a:lnSpc>
            </a:pPr>
            <a:r>
              <a:rPr lang="en-US" sz="3200" spc="15" dirty="0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·Sai Nimbalkar (25939)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7090B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2141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14381" y="876300"/>
            <a:ext cx="17373162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/01-introduction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381" y="1761087"/>
            <a:ext cx="16458790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83"/>
              </a:lnSpc>
            </a:pPr>
            <a:r>
              <a:rPr lang="en-US" sz="4200" spc="252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INTRODUCTION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381" y="2427837"/>
            <a:ext cx="16458790" cy="4647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Measurable patient attributes reveal diabetes-related patterns.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381" y="3273628"/>
            <a:ext cx="714356" cy="714375"/>
            <a:chOff x="0" y="0"/>
            <a:chExt cx="952475" cy="9525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1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914381" y="4283278"/>
            <a:ext cx="3848005" cy="74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2"/>
              </a:lnSpc>
            </a:pPr>
            <a:r>
              <a:rPr lang="en-US" sz="6900" b="1" spc="-172">
                <a:solidFill>
                  <a:srgbClr val="5AD4E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5,500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14381" y="5264353"/>
            <a:ext cx="4114695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PATIENT RECORDS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5295767" y="3273628"/>
            <a:ext cx="714356" cy="714375"/>
            <a:chOff x="0" y="0"/>
            <a:chExt cx="952475" cy="9525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1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5295767" y="4283278"/>
            <a:ext cx="3581314" cy="74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72"/>
              </a:lnSpc>
            </a:pPr>
            <a:r>
              <a:rPr lang="en-US" sz="6900" b="1" spc="-172">
                <a:solidFill>
                  <a:srgbClr val="5AD4E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9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295767" y="5264353"/>
            <a:ext cx="3848005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VARIABLES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410462" y="3273628"/>
            <a:ext cx="714356" cy="714375"/>
            <a:chOff x="0" y="0"/>
            <a:chExt cx="952475" cy="9525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" r="1"/>
              </a:stretch>
            </a:blipFill>
          </p:spPr>
        </p:sp>
      </p:grpSp>
      <p:sp>
        <p:nvSpPr>
          <p:cNvPr id="19" name="TextBox 19"/>
          <p:cNvSpPr txBox="1"/>
          <p:nvPr/>
        </p:nvSpPr>
        <p:spPr>
          <a:xfrm>
            <a:off x="9410462" y="4121353"/>
            <a:ext cx="3581314" cy="54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R / RSTUDIO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10462" y="4831852"/>
            <a:ext cx="3848005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WORKFLOW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3525157" y="3273628"/>
            <a:ext cx="714356" cy="714375"/>
            <a:chOff x="0" y="0"/>
            <a:chExt cx="952475" cy="952500"/>
          </a:xfrm>
        </p:grpSpPr>
        <p:sp>
          <p:nvSpPr>
            <p:cNvPr id="22" name="Freeform 22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" r="1"/>
              </a:stretch>
            </a:blipFill>
          </p:spPr>
        </p:sp>
      </p:grpSp>
      <p:sp>
        <p:nvSpPr>
          <p:cNvPr id="23" name="TextBox 23"/>
          <p:cNvSpPr txBox="1"/>
          <p:nvPr/>
        </p:nvSpPr>
        <p:spPr>
          <a:xfrm>
            <a:off x="13525157" y="4121353"/>
            <a:ext cx="3848005" cy="1068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ANALYSIS + PREDICTION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3525157" y="5351859"/>
            <a:ext cx="3848005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MODEL-BASED OUTPUT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14381" y="9054551"/>
            <a:ext cx="17373162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Inputs: Age · BMI · HbA1c Level · Blood Glucose Level · Hypertension · Heart Disease · Gender · Smoking History → outcome: Diabetes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019551" y="3273628"/>
            <a:ext cx="19050" cy="5571382"/>
            <a:chOff x="0" y="0"/>
            <a:chExt cx="25400" cy="742850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5400" cy="7428484"/>
            </a:xfrm>
            <a:custGeom>
              <a:avLst/>
              <a:gdLst/>
              <a:ahLst/>
              <a:cxnLst/>
              <a:rect l="l" t="t" r="r" b="b"/>
              <a:pathLst>
                <a:path w="25400" h="7428484">
                  <a:moveTo>
                    <a:pt x="0" y="0"/>
                  </a:moveTo>
                  <a:lnTo>
                    <a:pt x="25400" y="0"/>
                  </a:lnTo>
                  <a:lnTo>
                    <a:pt x="25400" y="7428484"/>
                  </a:lnTo>
                  <a:lnTo>
                    <a:pt x="0" y="7428484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9134246" y="3273628"/>
            <a:ext cx="19050" cy="5571382"/>
            <a:chOff x="0" y="0"/>
            <a:chExt cx="25400" cy="742850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5400" cy="7428484"/>
            </a:xfrm>
            <a:custGeom>
              <a:avLst/>
              <a:gdLst/>
              <a:ahLst/>
              <a:cxnLst/>
              <a:rect l="l" t="t" r="r" b="b"/>
              <a:pathLst>
                <a:path w="25400" h="7428484">
                  <a:moveTo>
                    <a:pt x="0" y="0"/>
                  </a:moveTo>
                  <a:lnTo>
                    <a:pt x="25400" y="0"/>
                  </a:lnTo>
                  <a:lnTo>
                    <a:pt x="25400" y="7428484"/>
                  </a:lnTo>
                  <a:lnTo>
                    <a:pt x="0" y="7428484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30" name="Group 30"/>
          <p:cNvGrpSpPr/>
          <p:nvPr/>
        </p:nvGrpSpPr>
        <p:grpSpPr>
          <a:xfrm>
            <a:off x="13248942" y="3273628"/>
            <a:ext cx="19050" cy="5571382"/>
            <a:chOff x="0" y="0"/>
            <a:chExt cx="25400" cy="7428509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5400" cy="7428484"/>
            </a:xfrm>
            <a:custGeom>
              <a:avLst/>
              <a:gdLst/>
              <a:ahLst/>
              <a:cxnLst/>
              <a:rect l="l" t="t" r="r" b="b"/>
              <a:pathLst>
                <a:path w="25400" h="7428484">
                  <a:moveTo>
                    <a:pt x="0" y="0"/>
                  </a:moveTo>
                  <a:lnTo>
                    <a:pt x="25400" y="0"/>
                  </a:lnTo>
                  <a:lnTo>
                    <a:pt x="25400" y="7428484"/>
                  </a:lnTo>
                  <a:lnTo>
                    <a:pt x="0" y="7428484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17113025" y="9741989"/>
            <a:ext cx="1174518" cy="289912"/>
            <a:chOff x="0" y="0"/>
            <a:chExt cx="1566024" cy="38655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566030" cy="386556"/>
            </a:xfrm>
            <a:custGeom>
              <a:avLst/>
              <a:gdLst/>
              <a:ahLst/>
              <a:cxnLst/>
              <a:rect l="l" t="t" r="r" b="b"/>
              <a:pathLst>
                <a:path w="1566030" h="386556">
                  <a:moveTo>
                    <a:pt x="0" y="0"/>
                  </a:moveTo>
                  <a:lnTo>
                    <a:pt x="1566030" y="0"/>
                  </a:lnTo>
                  <a:lnTo>
                    <a:pt x="1566030" y="386556"/>
                  </a:lnTo>
                  <a:lnTo>
                    <a:pt x="0" y="386556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t="-28939" b="-28937"/>
              </a:stretch>
            </a:blipFill>
          </p:spPr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1566024" cy="424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86"/>
                </a:lnSpc>
              </a:pPr>
              <a:r>
                <a:rPr lang="en-US" sz="1575" spc="77">
                  <a:solidFill>
                    <a:srgbClr val="899198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02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7090B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2141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14381" y="876300"/>
            <a:ext cx="17373162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/02-problem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381" y="1761087"/>
            <a:ext cx="16458790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83"/>
              </a:lnSpc>
            </a:pPr>
            <a:r>
              <a:rPr lang="en-US" sz="4200" spc="252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PROBLEM STATEMENT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381" y="2427837"/>
            <a:ext cx="16458790" cy="9105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Multiple health variables create relationships that are difficult to inspect manually.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381" y="3795560"/>
            <a:ext cx="16458790" cy="9525"/>
            <a:chOff x="0" y="0"/>
            <a:chExt cx="21945054" cy="127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945092" cy="12700"/>
            </a:xfrm>
            <a:custGeom>
              <a:avLst/>
              <a:gdLst/>
              <a:ahLst/>
              <a:cxnLst/>
              <a:rect l="l" t="t" r="r" b="b"/>
              <a:pathLst>
                <a:path w="21945092" h="12700">
                  <a:moveTo>
                    <a:pt x="0" y="0"/>
                  </a:moveTo>
                  <a:lnTo>
                    <a:pt x="21945092" y="0"/>
                  </a:lnTo>
                  <a:lnTo>
                    <a:pt x="2194509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11" name="Group 11"/>
          <p:cNvGrpSpPr/>
          <p:nvPr/>
        </p:nvGrpSpPr>
        <p:grpSpPr>
          <a:xfrm>
            <a:off x="914381" y="8078238"/>
            <a:ext cx="16458790" cy="9525"/>
            <a:chOff x="0" y="0"/>
            <a:chExt cx="21945054" cy="127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1945092" cy="12700"/>
            </a:xfrm>
            <a:custGeom>
              <a:avLst/>
              <a:gdLst/>
              <a:ahLst/>
              <a:cxnLst/>
              <a:rect l="l" t="t" r="r" b="b"/>
              <a:pathLst>
                <a:path w="21945092" h="12700">
                  <a:moveTo>
                    <a:pt x="0" y="0"/>
                  </a:moveTo>
                  <a:lnTo>
                    <a:pt x="21945092" y="0"/>
                  </a:lnTo>
                  <a:lnTo>
                    <a:pt x="2194509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sp>
        <p:nvSpPr>
          <p:cNvPr id="13" name="TextBox 13"/>
          <p:cNvSpPr txBox="1"/>
          <p:nvPr/>
        </p:nvSpPr>
        <p:spPr>
          <a:xfrm>
            <a:off x="914381" y="4109885"/>
            <a:ext cx="1428864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1"/>
              </a:lnSpc>
            </a:pPr>
            <a:r>
              <a:rPr lang="en-US" sz="3375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14381" y="4543273"/>
            <a:ext cx="5143367" cy="54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PATTERNS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14381" y="5244255"/>
            <a:ext cx="5143367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Patterns may be hidden across patient attributes.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43529" y="4109885"/>
            <a:ext cx="1428864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1"/>
              </a:lnSpc>
            </a:pPr>
            <a:r>
              <a:rPr lang="en-US" sz="3375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743529" y="4543273"/>
            <a:ext cx="4800476" cy="54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METHOD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743529" y="5244255"/>
            <a:ext cx="4800476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 systematic statistical approach is needed.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229795" y="4109885"/>
            <a:ext cx="1428864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1"/>
              </a:lnSpc>
            </a:pPr>
            <a:r>
              <a:rPr lang="en-US" sz="3375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229795" y="4543273"/>
            <a:ext cx="5143367" cy="54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OUTPUT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229795" y="5244255"/>
            <a:ext cx="5143367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output should be measurable and interpretable.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14381" y="8383038"/>
            <a:ext cx="17373162" cy="461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 spc="112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 Multiple health factors → complex relationships → statistical analysis → predicted diabetes risk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14381" y="9283151"/>
            <a:ext cx="17373162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Need: a statistically based, data-driven approach.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6391113" y="4033685"/>
            <a:ext cx="19050" cy="3815953"/>
            <a:chOff x="0" y="0"/>
            <a:chExt cx="25400" cy="508793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5400" cy="5088001"/>
            </a:xfrm>
            <a:custGeom>
              <a:avLst/>
              <a:gdLst/>
              <a:ahLst/>
              <a:cxnLst/>
              <a:rect l="l" t="t" r="r" b="b"/>
              <a:pathLst>
                <a:path w="25400" h="5088001">
                  <a:moveTo>
                    <a:pt x="0" y="0"/>
                  </a:moveTo>
                  <a:lnTo>
                    <a:pt x="25400" y="0"/>
                  </a:lnTo>
                  <a:lnTo>
                    <a:pt x="25400" y="5088001"/>
                  </a:lnTo>
                  <a:lnTo>
                    <a:pt x="0" y="5088001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26" name="Group 26"/>
          <p:cNvGrpSpPr/>
          <p:nvPr/>
        </p:nvGrpSpPr>
        <p:grpSpPr>
          <a:xfrm>
            <a:off x="11877380" y="4033685"/>
            <a:ext cx="19050" cy="3815953"/>
            <a:chOff x="0" y="0"/>
            <a:chExt cx="25400" cy="508793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5400" cy="5088001"/>
            </a:xfrm>
            <a:custGeom>
              <a:avLst/>
              <a:gdLst/>
              <a:ahLst/>
              <a:cxnLst/>
              <a:rect l="l" t="t" r="r" b="b"/>
              <a:pathLst>
                <a:path w="25400" h="5088001">
                  <a:moveTo>
                    <a:pt x="0" y="0"/>
                  </a:moveTo>
                  <a:lnTo>
                    <a:pt x="25400" y="0"/>
                  </a:lnTo>
                  <a:lnTo>
                    <a:pt x="25400" y="5088001"/>
                  </a:lnTo>
                  <a:lnTo>
                    <a:pt x="0" y="5088001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28" name="Group 28"/>
          <p:cNvGrpSpPr/>
          <p:nvPr/>
        </p:nvGrpSpPr>
        <p:grpSpPr>
          <a:xfrm>
            <a:off x="17113025" y="9741989"/>
            <a:ext cx="1174518" cy="289912"/>
            <a:chOff x="0" y="0"/>
            <a:chExt cx="1566024" cy="38655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66030" cy="386556"/>
            </a:xfrm>
            <a:custGeom>
              <a:avLst/>
              <a:gdLst/>
              <a:ahLst/>
              <a:cxnLst/>
              <a:rect l="l" t="t" r="r" b="b"/>
              <a:pathLst>
                <a:path w="1566030" h="386556">
                  <a:moveTo>
                    <a:pt x="0" y="0"/>
                  </a:moveTo>
                  <a:lnTo>
                    <a:pt x="1566030" y="0"/>
                  </a:lnTo>
                  <a:lnTo>
                    <a:pt x="1566030" y="386556"/>
                  </a:lnTo>
                  <a:lnTo>
                    <a:pt x="0" y="386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939" b="-28937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1566024" cy="424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86"/>
                </a:lnSpc>
              </a:pPr>
              <a:r>
                <a:rPr lang="en-US" sz="1575" spc="77">
                  <a:solidFill>
                    <a:srgbClr val="899198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03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7090B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2141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14381" y="876300"/>
            <a:ext cx="17373162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/03-solution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381" y="1761087"/>
            <a:ext cx="16458790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83"/>
              </a:lnSpc>
            </a:pPr>
            <a:r>
              <a:rPr lang="en-US" sz="4200" spc="252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SOLUTION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381" y="2427837"/>
            <a:ext cx="16458790" cy="9105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One analytical workflow moves from data validation to an interpretable statistical prediction model.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381" y="3719360"/>
            <a:ext cx="16458790" cy="9525"/>
            <a:chOff x="0" y="0"/>
            <a:chExt cx="21945054" cy="127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945092" cy="12700"/>
            </a:xfrm>
            <a:custGeom>
              <a:avLst/>
              <a:gdLst/>
              <a:ahLst/>
              <a:cxnLst/>
              <a:rect l="l" t="t" r="r" b="b"/>
              <a:pathLst>
                <a:path w="21945092" h="12700">
                  <a:moveTo>
                    <a:pt x="0" y="0"/>
                  </a:moveTo>
                  <a:lnTo>
                    <a:pt x="21945092" y="0"/>
                  </a:lnTo>
                  <a:lnTo>
                    <a:pt x="2194509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11" name="Group 11"/>
          <p:cNvGrpSpPr/>
          <p:nvPr/>
        </p:nvGrpSpPr>
        <p:grpSpPr>
          <a:xfrm>
            <a:off x="914381" y="8078238"/>
            <a:ext cx="16458790" cy="9525"/>
            <a:chOff x="0" y="0"/>
            <a:chExt cx="21945054" cy="127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1945092" cy="12700"/>
            </a:xfrm>
            <a:custGeom>
              <a:avLst/>
              <a:gdLst/>
              <a:ahLst/>
              <a:cxnLst/>
              <a:rect l="l" t="t" r="r" b="b"/>
              <a:pathLst>
                <a:path w="21945092" h="12700">
                  <a:moveTo>
                    <a:pt x="0" y="0"/>
                  </a:moveTo>
                  <a:lnTo>
                    <a:pt x="21945092" y="0"/>
                  </a:lnTo>
                  <a:lnTo>
                    <a:pt x="2194509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sp>
        <p:nvSpPr>
          <p:cNvPr id="13" name="TextBox 13"/>
          <p:cNvSpPr txBox="1"/>
          <p:nvPr/>
        </p:nvSpPr>
        <p:spPr>
          <a:xfrm>
            <a:off x="914381" y="4005110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14381" y="4357535"/>
            <a:ext cx="2743133" cy="28575"/>
            <a:chOff x="0" y="0"/>
            <a:chExt cx="3657511" cy="381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657473" cy="38100"/>
            </a:xfrm>
            <a:custGeom>
              <a:avLst/>
              <a:gdLst/>
              <a:ahLst/>
              <a:cxnLst/>
              <a:rect l="l" t="t" r="r" b="b"/>
              <a:pathLst>
                <a:path w="3657473" h="38100">
                  <a:moveTo>
                    <a:pt x="0" y="0"/>
                  </a:moveTo>
                  <a:lnTo>
                    <a:pt x="3657473" y="0"/>
                  </a:lnTo>
                  <a:lnTo>
                    <a:pt x="3657473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5AD4E6"/>
            </a:solidFill>
          </p:spPr>
        </p:sp>
      </p:grpSp>
      <p:sp>
        <p:nvSpPr>
          <p:cNvPr id="16" name="TextBox 16"/>
          <p:cNvSpPr txBox="1"/>
          <p:nvPr/>
        </p:nvSpPr>
        <p:spPr>
          <a:xfrm>
            <a:off x="914381" y="4528985"/>
            <a:ext cx="2743133" cy="449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4"/>
              </a:lnSpc>
            </a:pPr>
            <a:r>
              <a:rPr lang="en-US" sz="25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DATASET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4381" y="5130851"/>
            <a:ext cx="2743133" cy="461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Patient Dataset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657505" y="4005110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3657505" y="4357535"/>
            <a:ext cx="2743133" cy="28575"/>
            <a:chOff x="0" y="0"/>
            <a:chExt cx="3657511" cy="381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657473" cy="38100"/>
            </a:xfrm>
            <a:custGeom>
              <a:avLst/>
              <a:gdLst/>
              <a:ahLst/>
              <a:cxnLst/>
              <a:rect l="l" t="t" r="r" b="b"/>
              <a:pathLst>
                <a:path w="3657473" h="38100">
                  <a:moveTo>
                    <a:pt x="0" y="0"/>
                  </a:moveTo>
                  <a:lnTo>
                    <a:pt x="3657473" y="0"/>
                  </a:lnTo>
                  <a:lnTo>
                    <a:pt x="3657473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5AD4E6"/>
            </a:solidFill>
          </p:spPr>
        </p:sp>
      </p:grpSp>
      <p:sp>
        <p:nvSpPr>
          <p:cNvPr id="21" name="TextBox 21"/>
          <p:cNvSpPr txBox="1"/>
          <p:nvPr/>
        </p:nvSpPr>
        <p:spPr>
          <a:xfrm>
            <a:off x="3657505" y="4528985"/>
            <a:ext cx="2743133" cy="449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4"/>
              </a:lnSpc>
            </a:pPr>
            <a:r>
              <a:rPr lang="en-US" sz="25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CHECK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657505" y="5130851"/>
            <a:ext cx="2743133" cy="461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Data Validation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400638" y="4005110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6400638" y="4357535"/>
            <a:ext cx="2743133" cy="28575"/>
            <a:chOff x="0" y="0"/>
            <a:chExt cx="3657511" cy="381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657473" cy="38100"/>
            </a:xfrm>
            <a:custGeom>
              <a:avLst/>
              <a:gdLst/>
              <a:ahLst/>
              <a:cxnLst/>
              <a:rect l="l" t="t" r="r" b="b"/>
              <a:pathLst>
                <a:path w="3657473" h="38100">
                  <a:moveTo>
                    <a:pt x="0" y="0"/>
                  </a:moveTo>
                  <a:lnTo>
                    <a:pt x="3657473" y="0"/>
                  </a:lnTo>
                  <a:lnTo>
                    <a:pt x="3657473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5AD4E6"/>
            </a:solidFill>
          </p:spPr>
        </p:sp>
      </p:grpSp>
      <p:sp>
        <p:nvSpPr>
          <p:cNvPr id="26" name="TextBox 26"/>
          <p:cNvSpPr txBox="1"/>
          <p:nvPr/>
        </p:nvSpPr>
        <p:spPr>
          <a:xfrm>
            <a:off x="6400638" y="4528985"/>
            <a:ext cx="2743133" cy="449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4"/>
              </a:lnSpc>
            </a:pPr>
            <a:r>
              <a:rPr lang="en-US" sz="25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DESCRIBE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400638" y="5130851"/>
            <a:ext cx="2743133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Descriptive Statistics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143771" y="4005110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9143771" y="4357535"/>
            <a:ext cx="2743133" cy="28575"/>
            <a:chOff x="0" y="0"/>
            <a:chExt cx="3657511" cy="381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3657473" cy="38100"/>
            </a:xfrm>
            <a:custGeom>
              <a:avLst/>
              <a:gdLst/>
              <a:ahLst/>
              <a:cxnLst/>
              <a:rect l="l" t="t" r="r" b="b"/>
              <a:pathLst>
                <a:path w="3657473" h="38100">
                  <a:moveTo>
                    <a:pt x="0" y="0"/>
                  </a:moveTo>
                  <a:lnTo>
                    <a:pt x="3657473" y="0"/>
                  </a:lnTo>
                  <a:lnTo>
                    <a:pt x="3657473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5AD4E6"/>
            </a:solidFill>
          </p:spPr>
        </p:sp>
      </p:grpSp>
      <p:sp>
        <p:nvSpPr>
          <p:cNvPr id="31" name="TextBox 31"/>
          <p:cNvSpPr txBox="1"/>
          <p:nvPr/>
        </p:nvSpPr>
        <p:spPr>
          <a:xfrm>
            <a:off x="9143771" y="4528985"/>
            <a:ext cx="2743133" cy="449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4"/>
              </a:lnSpc>
            </a:pPr>
            <a:r>
              <a:rPr lang="en-US" sz="25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RELATE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143771" y="5130851"/>
            <a:ext cx="2743133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Pearson Correlation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886905" y="4005110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1886905" y="4357535"/>
            <a:ext cx="2743133" cy="28575"/>
            <a:chOff x="0" y="0"/>
            <a:chExt cx="3657511" cy="381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3657473" cy="38100"/>
            </a:xfrm>
            <a:custGeom>
              <a:avLst/>
              <a:gdLst/>
              <a:ahLst/>
              <a:cxnLst/>
              <a:rect l="l" t="t" r="r" b="b"/>
              <a:pathLst>
                <a:path w="3657473" h="38100">
                  <a:moveTo>
                    <a:pt x="0" y="0"/>
                  </a:moveTo>
                  <a:lnTo>
                    <a:pt x="3657473" y="0"/>
                  </a:lnTo>
                  <a:lnTo>
                    <a:pt x="3657473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5AD4E6"/>
            </a:solidFill>
          </p:spPr>
        </p:sp>
      </p:grpSp>
      <p:sp>
        <p:nvSpPr>
          <p:cNvPr id="36" name="TextBox 36"/>
          <p:cNvSpPr txBox="1"/>
          <p:nvPr/>
        </p:nvSpPr>
        <p:spPr>
          <a:xfrm>
            <a:off x="11886905" y="4528985"/>
            <a:ext cx="2743133" cy="449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4"/>
              </a:lnSpc>
            </a:pPr>
            <a:r>
              <a:rPr lang="en-US" sz="25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MODEL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886905" y="5130851"/>
            <a:ext cx="2743133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Regression Analysis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4630038" y="4005110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14630038" y="4357535"/>
            <a:ext cx="2743133" cy="28575"/>
            <a:chOff x="0" y="0"/>
            <a:chExt cx="3657511" cy="381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3657473" cy="38100"/>
            </a:xfrm>
            <a:custGeom>
              <a:avLst/>
              <a:gdLst/>
              <a:ahLst/>
              <a:cxnLst/>
              <a:rect l="l" t="t" r="r" b="b"/>
              <a:pathLst>
                <a:path w="3657473" h="38100">
                  <a:moveTo>
                    <a:pt x="0" y="0"/>
                  </a:moveTo>
                  <a:lnTo>
                    <a:pt x="3657473" y="0"/>
                  </a:lnTo>
                  <a:lnTo>
                    <a:pt x="3657473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5AD4E6"/>
            </a:solidFill>
          </p:spPr>
        </p:sp>
      </p:grpSp>
      <p:sp>
        <p:nvSpPr>
          <p:cNvPr id="41" name="TextBox 41"/>
          <p:cNvSpPr txBox="1"/>
          <p:nvPr/>
        </p:nvSpPr>
        <p:spPr>
          <a:xfrm>
            <a:off x="14630038" y="4528985"/>
            <a:ext cx="2743133" cy="449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4"/>
              </a:lnSpc>
            </a:pPr>
            <a:r>
              <a:rPr lang="en-US" sz="25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PREDICT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4630038" y="5130851"/>
            <a:ext cx="2743133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Logistic Regression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14381" y="8383038"/>
            <a:ext cx="17373162" cy="461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 spc="112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Predicted Probability → R Shiny Interface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14381" y="9054551"/>
            <a:ext cx="17373162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Target variable: Diabetes · 0 = No Diabetes · 1 = Diabetes · Output: predicted probability and model result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17113025" y="9741989"/>
            <a:ext cx="1174518" cy="289912"/>
            <a:chOff x="0" y="0"/>
            <a:chExt cx="1566024" cy="38655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566030" cy="386556"/>
            </a:xfrm>
            <a:custGeom>
              <a:avLst/>
              <a:gdLst/>
              <a:ahLst/>
              <a:cxnLst/>
              <a:rect l="l" t="t" r="r" b="b"/>
              <a:pathLst>
                <a:path w="1566030" h="386556">
                  <a:moveTo>
                    <a:pt x="0" y="0"/>
                  </a:moveTo>
                  <a:lnTo>
                    <a:pt x="1566030" y="0"/>
                  </a:lnTo>
                  <a:lnTo>
                    <a:pt x="1566030" y="386556"/>
                  </a:lnTo>
                  <a:lnTo>
                    <a:pt x="0" y="386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939" b="-28937"/>
              </a:stretch>
            </a:blipFill>
          </p:spPr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1566024" cy="424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86"/>
                </a:lnSpc>
              </a:pPr>
              <a:r>
                <a:rPr lang="en-US" sz="1575" spc="77">
                  <a:solidFill>
                    <a:srgbClr val="899198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04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7090B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2141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14381" y="876300"/>
            <a:ext cx="17373162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/04-how-it-works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381" y="1761087"/>
            <a:ext cx="16458790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83"/>
              </a:lnSpc>
            </a:pPr>
            <a:r>
              <a:rPr lang="en-US" sz="4200" spc="252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HOW IT WORKS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381" y="2427837"/>
            <a:ext cx="16458790" cy="4647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From dataset checks to an interactive prediction result.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09618" y="3202191"/>
            <a:ext cx="657206" cy="509588"/>
            <a:chOff x="0" y="0"/>
            <a:chExt cx="876275" cy="67945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76300" cy="679450"/>
            </a:xfrm>
            <a:custGeom>
              <a:avLst/>
              <a:gdLst/>
              <a:ahLst/>
              <a:cxnLst/>
              <a:rect l="l" t="t" r="r" b="b"/>
              <a:pathLst>
                <a:path w="876300" h="679450">
                  <a:moveTo>
                    <a:pt x="0" y="116459"/>
                  </a:moveTo>
                  <a:cubicBezTo>
                    <a:pt x="0" y="52197"/>
                    <a:pt x="52197" y="0"/>
                    <a:pt x="116459" y="0"/>
                  </a:cubicBezTo>
                  <a:lnTo>
                    <a:pt x="759841" y="0"/>
                  </a:lnTo>
                  <a:cubicBezTo>
                    <a:pt x="824103" y="0"/>
                    <a:pt x="876300" y="52197"/>
                    <a:pt x="876300" y="116459"/>
                  </a:cubicBezTo>
                  <a:lnTo>
                    <a:pt x="876300" y="562991"/>
                  </a:lnTo>
                  <a:cubicBezTo>
                    <a:pt x="876300" y="627253"/>
                    <a:pt x="824103" y="679450"/>
                    <a:pt x="759841" y="679450"/>
                  </a:cubicBezTo>
                  <a:lnTo>
                    <a:pt x="116459" y="679450"/>
                  </a:lnTo>
                  <a:cubicBezTo>
                    <a:pt x="52197" y="679450"/>
                    <a:pt x="0" y="627253"/>
                    <a:pt x="0" y="562991"/>
                  </a:cubicBezTo>
                  <a:close/>
                </a:path>
              </a:pathLst>
            </a:custGeom>
            <a:solidFill>
              <a:srgbClr val="5AD4E6"/>
            </a:solidFill>
            <a:ln w="9525" cap="sq">
              <a:solidFill>
                <a:srgbClr val="4A4C4F"/>
              </a:solidFill>
              <a:prstDash val="solid"/>
              <a:miter/>
            </a:ln>
          </p:spPr>
        </p:sp>
      </p:grpSp>
      <p:sp>
        <p:nvSpPr>
          <p:cNvPr id="11" name="TextBox 11"/>
          <p:cNvSpPr txBox="1"/>
          <p:nvPr/>
        </p:nvSpPr>
        <p:spPr>
          <a:xfrm>
            <a:off x="1066771" y="3361725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847802" y="3209325"/>
            <a:ext cx="7067369" cy="449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4"/>
              </a:lnSpc>
            </a:pPr>
            <a:r>
              <a:rPr lang="en-US" sz="25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LOAD DATA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847802" y="3811191"/>
            <a:ext cx="7067369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Load data; check missing values, types, and duplicates.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09618" y="4911328"/>
            <a:ext cx="657206" cy="509588"/>
            <a:chOff x="0" y="0"/>
            <a:chExt cx="876275" cy="67945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76300" cy="679450"/>
            </a:xfrm>
            <a:custGeom>
              <a:avLst/>
              <a:gdLst/>
              <a:ahLst/>
              <a:cxnLst/>
              <a:rect l="l" t="t" r="r" b="b"/>
              <a:pathLst>
                <a:path w="876300" h="679450">
                  <a:moveTo>
                    <a:pt x="0" y="116459"/>
                  </a:moveTo>
                  <a:cubicBezTo>
                    <a:pt x="0" y="52197"/>
                    <a:pt x="52197" y="0"/>
                    <a:pt x="116459" y="0"/>
                  </a:cubicBezTo>
                  <a:lnTo>
                    <a:pt x="759841" y="0"/>
                  </a:lnTo>
                  <a:cubicBezTo>
                    <a:pt x="824103" y="0"/>
                    <a:pt x="876300" y="52197"/>
                    <a:pt x="876300" y="116459"/>
                  </a:cubicBezTo>
                  <a:lnTo>
                    <a:pt x="876300" y="562991"/>
                  </a:lnTo>
                  <a:cubicBezTo>
                    <a:pt x="876300" y="627253"/>
                    <a:pt x="824103" y="679450"/>
                    <a:pt x="759841" y="679450"/>
                  </a:cubicBezTo>
                  <a:lnTo>
                    <a:pt x="116459" y="679450"/>
                  </a:lnTo>
                  <a:cubicBezTo>
                    <a:pt x="52197" y="679450"/>
                    <a:pt x="0" y="627253"/>
                    <a:pt x="0" y="562991"/>
                  </a:cubicBezTo>
                  <a:close/>
                </a:path>
              </a:pathLst>
            </a:custGeom>
            <a:solidFill>
              <a:srgbClr val="5AD4E6"/>
            </a:solidFill>
            <a:ln w="9525" cap="sq">
              <a:solidFill>
                <a:srgbClr val="4A4C4F"/>
              </a:solidFill>
              <a:prstDash val="solid"/>
              <a:miter/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1066771" y="5070872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847802" y="4918472"/>
            <a:ext cx="7067369" cy="449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4"/>
              </a:lnSpc>
            </a:pPr>
            <a:r>
              <a:rPr lang="en-US" sz="25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SUMMARIZE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847802" y="5520338"/>
            <a:ext cx="7067369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Summarize mean, median, mode, quartiles, variance, standard deviation, and range.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909618" y="6620475"/>
            <a:ext cx="657206" cy="509588"/>
            <a:chOff x="0" y="0"/>
            <a:chExt cx="876275" cy="67945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6300" cy="679450"/>
            </a:xfrm>
            <a:custGeom>
              <a:avLst/>
              <a:gdLst/>
              <a:ahLst/>
              <a:cxnLst/>
              <a:rect l="l" t="t" r="r" b="b"/>
              <a:pathLst>
                <a:path w="876300" h="679450">
                  <a:moveTo>
                    <a:pt x="0" y="116459"/>
                  </a:moveTo>
                  <a:cubicBezTo>
                    <a:pt x="0" y="52197"/>
                    <a:pt x="52197" y="0"/>
                    <a:pt x="116459" y="0"/>
                  </a:cubicBezTo>
                  <a:lnTo>
                    <a:pt x="759841" y="0"/>
                  </a:lnTo>
                  <a:cubicBezTo>
                    <a:pt x="824103" y="0"/>
                    <a:pt x="876300" y="52197"/>
                    <a:pt x="876300" y="116459"/>
                  </a:cubicBezTo>
                  <a:lnTo>
                    <a:pt x="876300" y="562991"/>
                  </a:lnTo>
                  <a:cubicBezTo>
                    <a:pt x="876300" y="627253"/>
                    <a:pt x="824103" y="679450"/>
                    <a:pt x="759841" y="679450"/>
                  </a:cubicBezTo>
                  <a:lnTo>
                    <a:pt x="116459" y="679450"/>
                  </a:lnTo>
                  <a:cubicBezTo>
                    <a:pt x="52197" y="679450"/>
                    <a:pt x="0" y="627253"/>
                    <a:pt x="0" y="562991"/>
                  </a:cubicBezTo>
                  <a:close/>
                </a:path>
              </a:pathLst>
            </a:custGeom>
            <a:solidFill>
              <a:srgbClr val="5AD4E6"/>
            </a:solidFill>
            <a:ln w="9525" cap="sq">
              <a:solidFill>
                <a:srgbClr val="4A4C4F"/>
              </a:solidFill>
              <a:prstDash val="solid"/>
              <a:miter/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1066771" y="6780009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847802" y="6627609"/>
            <a:ext cx="7067369" cy="449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4"/>
              </a:lnSpc>
            </a:pPr>
            <a:r>
              <a:rPr lang="en-US" sz="25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ANALYZE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847802" y="7229475"/>
            <a:ext cx="7067369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Run Pearson correlation plus simple and multiple regression.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367599" y="3202191"/>
            <a:ext cx="509578" cy="509588"/>
            <a:chOff x="0" y="0"/>
            <a:chExt cx="679437" cy="67945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79450" cy="679450"/>
            </a:xfrm>
            <a:custGeom>
              <a:avLst/>
              <a:gdLst/>
              <a:ahLst/>
              <a:cxnLst/>
              <a:rect l="l" t="t" r="r" b="b"/>
              <a:pathLst>
                <a:path w="679450" h="679450">
                  <a:moveTo>
                    <a:pt x="0" y="116459"/>
                  </a:moveTo>
                  <a:cubicBezTo>
                    <a:pt x="0" y="52197"/>
                    <a:pt x="52197" y="0"/>
                    <a:pt x="116459" y="0"/>
                  </a:cubicBezTo>
                  <a:lnTo>
                    <a:pt x="562991" y="0"/>
                  </a:lnTo>
                  <a:cubicBezTo>
                    <a:pt x="627380" y="0"/>
                    <a:pt x="679450" y="52197"/>
                    <a:pt x="679450" y="116459"/>
                  </a:cubicBezTo>
                  <a:lnTo>
                    <a:pt x="679450" y="562991"/>
                  </a:lnTo>
                  <a:cubicBezTo>
                    <a:pt x="679450" y="627380"/>
                    <a:pt x="627253" y="679450"/>
                    <a:pt x="562991" y="679450"/>
                  </a:cubicBezTo>
                  <a:lnTo>
                    <a:pt x="116459" y="679450"/>
                  </a:lnTo>
                  <a:cubicBezTo>
                    <a:pt x="52197" y="679450"/>
                    <a:pt x="0" y="627253"/>
                    <a:pt x="0" y="562991"/>
                  </a:cubicBezTo>
                  <a:close/>
                </a:path>
              </a:pathLst>
            </a:custGeom>
            <a:solidFill>
              <a:srgbClr val="5AD4E6"/>
            </a:solidFill>
            <a:ln w="9525" cap="sq">
              <a:solidFill>
                <a:srgbClr val="4A4C4F"/>
              </a:solidFill>
              <a:prstDash val="solid"/>
              <a:miter/>
            </a:ln>
          </p:spPr>
        </p:sp>
      </p:grpSp>
      <p:sp>
        <p:nvSpPr>
          <p:cNvPr id="26" name="TextBox 26"/>
          <p:cNvSpPr txBox="1"/>
          <p:nvPr/>
        </p:nvSpPr>
        <p:spPr>
          <a:xfrm>
            <a:off x="10158155" y="3354591"/>
            <a:ext cx="7215007" cy="449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4"/>
              </a:lnSpc>
            </a:pPr>
            <a:r>
              <a:rPr lang="en-US" sz="25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BUILD MODEL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158155" y="3956447"/>
            <a:ext cx="7215007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Build logistic regression; split data; generate probabilities and classes.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367599" y="5056584"/>
            <a:ext cx="509578" cy="509588"/>
            <a:chOff x="0" y="0"/>
            <a:chExt cx="679437" cy="67945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79450" cy="679450"/>
            </a:xfrm>
            <a:custGeom>
              <a:avLst/>
              <a:gdLst/>
              <a:ahLst/>
              <a:cxnLst/>
              <a:rect l="l" t="t" r="r" b="b"/>
              <a:pathLst>
                <a:path w="679450" h="679450">
                  <a:moveTo>
                    <a:pt x="0" y="116459"/>
                  </a:moveTo>
                  <a:cubicBezTo>
                    <a:pt x="0" y="52197"/>
                    <a:pt x="52197" y="0"/>
                    <a:pt x="116459" y="0"/>
                  </a:cubicBezTo>
                  <a:lnTo>
                    <a:pt x="562991" y="0"/>
                  </a:lnTo>
                  <a:cubicBezTo>
                    <a:pt x="627380" y="0"/>
                    <a:pt x="679450" y="52197"/>
                    <a:pt x="679450" y="116459"/>
                  </a:cubicBezTo>
                  <a:lnTo>
                    <a:pt x="679450" y="562991"/>
                  </a:lnTo>
                  <a:cubicBezTo>
                    <a:pt x="679450" y="627380"/>
                    <a:pt x="627253" y="679450"/>
                    <a:pt x="562991" y="679450"/>
                  </a:cubicBezTo>
                  <a:lnTo>
                    <a:pt x="116459" y="679450"/>
                  </a:lnTo>
                  <a:cubicBezTo>
                    <a:pt x="52197" y="679450"/>
                    <a:pt x="0" y="627253"/>
                    <a:pt x="0" y="562991"/>
                  </a:cubicBezTo>
                  <a:close/>
                </a:path>
              </a:pathLst>
            </a:custGeom>
            <a:solidFill>
              <a:srgbClr val="5AD4E6"/>
            </a:solidFill>
            <a:ln w="9525" cap="sq">
              <a:solidFill>
                <a:srgbClr val="4A4C4F"/>
              </a:solidFill>
              <a:prstDash val="solid"/>
              <a:miter/>
            </a:ln>
          </p:spPr>
        </p:sp>
      </p:grpSp>
      <p:sp>
        <p:nvSpPr>
          <p:cNvPr id="30" name="TextBox 30"/>
          <p:cNvSpPr txBox="1"/>
          <p:nvPr/>
        </p:nvSpPr>
        <p:spPr>
          <a:xfrm>
            <a:off x="10158155" y="5208984"/>
            <a:ext cx="7215007" cy="449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4"/>
              </a:lnSpc>
            </a:pPr>
            <a:r>
              <a:rPr lang="en-US" sz="25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EVALUATE + INTERACT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158155" y="5810850"/>
            <a:ext cx="7215007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Evaluate the model; accept new inputs in R Shiny.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14381" y="8429625"/>
            <a:ext cx="16458790" cy="597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Training set: 4,399 records · Testing set: 1,101 records</a:t>
            </a:r>
          </a:p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Model inputs: Age, BMI, HbA1c Level, Blood Glucose Level, Hypertension, Heart Disease, Gender, Smoking History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914381" y="4792266"/>
            <a:ext cx="8000800" cy="19050"/>
            <a:chOff x="0" y="0"/>
            <a:chExt cx="10667733" cy="25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667746" cy="25400"/>
            </a:xfrm>
            <a:custGeom>
              <a:avLst/>
              <a:gdLst/>
              <a:ahLst/>
              <a:cxnLst/>
              <a:rect l="l" t="t" r="r" b="b"/>
              <a:pathLst>
                <a:path w="10667746" h="25400">
                  <a:moveTo>
                    <a:pt x="0" y="0"/>
                  </a:moveTo>
                  <a:lnTo>
                    <a:pt x="10667746" y="0"/>
                  </a:lnTo>
                  <a:lnTo>
                    <a:pt x="10667746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914381" y="6501413"/>
            <a:ext cx="8000800" cy="19050"/>
            <a:chOff x="0" y="0"/>
            <a:chExt cx="10667733" cy="254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0667746" cy="25400"/>
            </a:xfrm>
            <a:custGeom>
              <a:avLst/>
              <a:gdLst/>
              <a:ahLst/>
              <a:cxnLst/>
              <a:rect l="l" t="t" r="r" b="b"/>
              <a:pathLst>
                <a:path w="10667746" h="25400">
                  <a:moveTo>
                    <a:pt x="0" y="0"/>
                  </a:moveTo>
                  <a:lnTo>
                    <a:pt x="10667746" y="0"/>
                  </a:lnTo>
                  <a:lnTo>
                    <a:pt x="10667746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37" name="Group 37"/>
          <p:cNvGrpSpPr/>
          <p:nvPr/>
        </p:nvGrpSpPr>
        <p:grpSpPr>
          <a:xfrm>
            <a:off x="9372362" y="4937522"/>
            <a:ext cx="8000800" cy="19050"/>
            <a:chOff x="0" y="0"/>
            <a:chExt cx="10667733" cy="254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0667746" cy="25400"/>
            </a:xfrm>
            <a:custGeom>
              <a:avLst/>
              <a:gdLst/>
              <a:ahLst/>
              <a:cxnLst/>
              <a:rect l="l" t="t" r="r" b="b"/>
              <a:pathLst>
                <a:path w="10667746" h="25400">
                  <a:moveTo>
                    <a:pt x="0" y="0"/>
                  </a:moveTo>
                  <a:lnTo>
                    <a:pt x="10667746" y="0"/>
                  </a:lnTo>
                  <a:lnTo>
                    <a:pt x="10667746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39" name="Group 39"/>
          <p:cNvGrpSpPr/>
          <p:nvPr/>
        </p:nvGrpSpPr>
        <p:grpSpPr>
          <a:xfrm>
            <a:off x="17113025" y="9741989"/>
            <a:ext cx="1174518" cy="289912"/>
            <a:chOff x="0" y="0"/>
            <a:chExt cx="1566024" cy="38655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566030" cy="386556"/>
            </a:xfrm>
            <a:custGeom>
              <a:avLst/>
              <a:gdLst/>
              <a:ahLst/>
              <a:cxnLst/>
              <a:rect l="l" t="t" r="r" b="b"/>
              <a:pathLst>
                <a:path w="1566030" h="386556">
                  <a:moveTo>
                    <a:pt x="0" y="0"/>
                  </a:moveTo>
                  <a:lnTo>
                    <a:pt x="1566030" y="0"/>
                  </a:lnTo>
                  <a:lnTo>
                    <a:pt x="1566030" y="386556"/>
                  </a:lnTo>
                  <a:lnTo>
                    <a:pt x="0" y="386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939" b="-28937"/>
              </a:stretch>
            </a:blipFill>
          </p:spPr>
        </p:sp>
        <p:sp>
          <p:nvSpPr>
            <p:cNvPr id="41" name="TextBox 41"/>
            <p:cNvSpPr txBox="1"/>
            <p:nvPr/>
          </p:nvSpPr>
          <p:spPr>
            <a:xfrm>
              <a:off x="0" y="-38100"/>
              <a:ext cx="1566024" cy="424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86"/>
                </a:lnSpc>
              </a:pPr>
              <a:r>
                <a:rPr lang="en-US" sz="1575" spc="77">
                  <a:solidFill>
                    <a:srgbClr val="899198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05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7090B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2141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14381" y="876300"/>
            <a:ext cx="17373162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/05-technology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381" y="1761087"/>
            <a:ext cx="16458790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83"/>
              </a:lnSpc>
            </a:pPr>
            <a:r>
              <a:rPr lang="en-US" sz="4200" spc="252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TECHNOLOGY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381" y="2427837"/>
            <a:ext cx="16458790" cy="4647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Each tool supports a distinct stage of the statistical modelling workflow.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381" y="3273628"/>
            <a:ext cx="714356" cy="714375"/>
            <a:chOff x="0" y="0"/>
            <a:chExt cx="952475" cy="9525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1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914381" y="4121353"/>
            <a:ext cx="5219567" cy="54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14381" y="4822327"/>
            <a:ext cx="5219567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Statistical computing and programming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667338" y="3273628"/>
            <a:ext cx="714356" cy="714375"/>
            <a:chOff x="0" y="0"/>
            <a:chExt cx="952475" cy="9525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1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667338" y="4121353"/>
            <a:ext cx="4952876" cy="54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RSTUDIO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667338" y="4822327"/>
            <a:ext cx="4952876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Development and analysis environment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153595" y="3273628"/>
            <a:ext cx="714356" cy="714375"/>
            <a:chOff x="0" y="0"/>
            <a:chExt cx="952475" cy="9525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" r="1"/>
              </a:stretch>
            </a:blipFill>
          </p:spPr>
        </p:sp>
      </p:grpSp>
      <p:sp>
        <p:nvSpPr>
          <p:cNvPr id="19" name="TextBox 19"/>
          <p:cNvSpPr txBox="1"/>
          <p:nvPr/>
        </p:nvSpPr>
        <p:spPr>
          <a:xfrm>
            <a:off x="12153595" y="4121353"/>
            <a:ext cx="5219567" cy="54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R SHINY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153595" y="4822327"/>
            <a:ext cx="5219567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Interactive prediction interface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14381" y="6589814"/>
            <a:ext cx="714356" cy="714375"/>
            <a:chOff x="0" y="0"/>
            <a:chExt cx="952475" cy="952500"/>
          </a:xfrm>
        </p:grpSpPr>
        <p:sp>
          <p:nvSpPr>
            <p:cNvPr id="22" name="Freeform 22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" r="1"/>
              </a:stretch>
            </a:blipFill>
          </p:spPr>
        </p:sp>
      </p:grpSp>
      <p:sp>
        <p:nvSpPr>
          <p:cNvPr id="23" name="TextBox 23"/>
          <p:cNvSpPr txBox="1"/>
          <p:nvPr/>
        </p:nvSpPr>
        <p:spPr>
          <a:xfrm>
            <a:off x="914381" y="7437539"/>
            <a:ext cx="5219567" cy="54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GGPLOT2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14381" y="8138512"/>
            <a:ext cx="5486267" cy="461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Data visualization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6667338" y="6589814"/>
            <a:ext cx="714356" cy="714375"/>
            <a:chOff x="0" y="0"/>
            <a:chExt cx="952475" cy="952500"/>
          </a:xfrm>
        </p:grpSpPr>
        <p:sp>
          <p:nvSpPr>
            <p:cNvPr id="26" name="Freeform 26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" r="1"/>
              </a:stretch>
            </a:blipFill>
          </p:spPr>
        </p:sp>
      </p:grpSp>
      <p:sp>
        <p:nvSpPr>
          <p:cNvPr id="27" name="TextBox 27"/>
          <p:cNvSpPr txBox="1"/>
          <p:nvPr/>
        </p:nvSpPr>
        <p:spPr>
          <a:xfrm>
            <a:off x="6667338" y="7437539"/>
            <a:ext cx="4952876" cy="54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PROC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667338" y="8138512"/>
            <a:ext cx="5219567" cy="461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ROC curve and AUC evaluation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12153595" y="6589814"/>
            <a:ext cx="714356" cy="714375"/>
            <a:chOff x="0" y="0"/>
            <a:chExt cx="952475" cy="952500"/>
          </a:xfrm>
        </p:grpSpPr>
        <p:sp>
          <p:nvSpPr>
            <p:cNvPr id="30" name="Freeform 30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1" r="1"/>
              </a:stretch>
            </a:blipFill>
          </p:spPr>
        </p:sp>
      </p:grpSp>
      <p:sp>
        <p:nvSpPr>
          <p:cNvPr id="31" name="TextBox 31"/>
          <p:cNvSpPr txBox="1"/>
          <p:nvPr/>
        </p:nvSpPr>
        <p:spPr>
          <a:xfrm>
            <a:off x="12153595" y="7437539"/>
            <a:ext cx="5219567" cy="54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CSV DATASET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153595" y="8138512"/>
            <a:ext cx="5219567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Patient data storage and analysis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6391113" y="3273628"/>
            <a:ext cx="19050" cy="3049486"/>
            <a:chOff x="0" y="0"/>
            <a:chExt cx="25400" cy="4065981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5400" cy="4066032"/>
            </a:xfrm>
            <a:custGeom>
              <a:avLst/>
              <a:gdLst/>
              <a:ahLst/>
              <a:cxnLst/>
              <a:rect l="l" t="t" r="r" b="b"/>
              <a:pathLst>
                <a:path w="25400" h="4066032">
                  <a:moveTo>
                    <a:pt x="0" y="0"/>
                  </a:moveTo>
                  <a:lnTo>
                    <a:pt x="25400" y="0"/>
                  </a:lnTo>
                  <a:lnTo>
                    <a:pt x="25400" y="4066032"/>
                  </a:lnTo>
                  <a:lnTo>
                    <a:pt x="0" y="4066032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11877380" y="3273628"/>
            <a:ext cx="19050" cy="3049486"/>
            <a:chOff x="0" y="0"/>
            <a:chExt cx="25400" cy="4065981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5400" cy="4066032"/>
            </a:xfrm>
            <a:custGeom>
              <a:avLst/>
              <a:gdLst/>
              <a:ahLst/>
              <a:cxnLst/>
              <a:rect l="l" t="t" r="r" b="b"/>
              <a:pathLst>
                <a:path w="25400" h="4066032">
                  <a:moveTo>
                    <a:pt x="0" y="0"/>
                  </a:moveTo>
                  <a:lnTo>
                    <a:pt x="25400" y="0"/>
                  </a:lnTo>
                  <a:lnTo>
                    <a:pt x="25400" y="4066032"/>
                  </a:lnTo>
                  <a:lnTo>
                    <a:pt x="0" y="4066032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37" name="Group 37"/>
          <p:cNvGrpSpPr/>
          <p:nvPr/>
        </p:nvGrpSpPr>
        <p:grpSpPr>
          <a:xfrm>
            <a:off x="914381" y="6313589"/>
            <a:ext cx="5486267" cy="19050"/>
            <a:chOff x="0" y="0"/>
            <a:chExt cx="7315022" cy="254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7315073" cy="25400"/>
            </a:xfrm>
            <a:custGeom>
              <a:avLst/>
              <a:gdLst/>
              <a:ahLst/>
              <a:cxnLst/>
              <a:rect l="l" t="t" r="r" b="b"/>
              <a:pathLst>
                <a:path w="7315073" h="25400">
                  <a:moveTo>
                    <a:pt x="0" y="0"/>
                  </a:moveTo>
                  <a:lnTo>
                    <a:pt x="7315073" y="0"/>
                  </a:lnTo>
                  <a:lnTo>
                    <a:pt x="7315073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39" name="Group 39"/>
          <p:cNvGrpSpPr/>
          <p:nvPr/>
        </p:nvGrpSpPr>
        <p:grpSpPr>
          <a:xfrm>
            <a:off x="6391113" y="6323114"/>
            <a:ext cx="19050" cy="3049486"/>
            <a:chOff x="0" y="0"/>
            <a:chExt cx="25400" cy="4065981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25400" cy="4066032"/>
            </a:xfrm>
            <a:custGeom>
              <a:avLst/>
              <a:gdLst/>
              <a:ahLst/>
              <a:cxnLst/>
              <a:rect l="l" t="t" r="r" b="b"/>
              <a:pathLst>
                <a:path w="25400" h="4066032">
                  <a:moveTo>
                    <a:pt x="0" y="0"/>
                  </a:moveTo>
                  <a:lnTo>
                    <a:pt x="25400" y="0"/>
                  </a:lnTo>
                  <a:lnTo>
                    <a:pt x="25400" y="4066032"/>
                  </a:lnTo>
                  <a:lnTo>
                    <a:pt x="0" y="4066032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41" name="Group 41"/>
          <p:cNvGrpSpPr/>
          <p:nvPr/>
        </p:nvGrpSpPr>
        <p:grpSpPr>
          <a:xfrm>
            <a:off x="6400638" y="6313589"/>
            <a:ext cx="5486267" cy="19050"/>
            <a:chOff x="0" y="0"/>
            <a:chExt cx="7315022" cy="254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7315073" cy="25400"/>
            </a:xfrm>
            <a:custGeom>
              <a:avLst/>
              <a:gdLst/>
              <a:ahLst/>
              <a:cxnLst/>
              <a:rect l="l" t="t" r="r" b="b"/>
              <a:pathLst>
                <a:path w="7315073" h="25400">
                  <a:moveTo>
                    <a:pt x="0" y="0"/>
                  </a:moveTo>
                  <a:lnTo>
                    <a:pt x="7315073" y="0"/>
                  </a:lnTo>
                  <a:lnTo>
                    <a:pt x="7315073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43" name="Group 43"/>
          <p:cNvGrpSpPr/>
          <p:nvPr/>
        </p:nvGrpSpPr>
        <p:grpSpPr>
          <a:xfrm>
            <a:off x="11877380" y="6323114"/>
            <a:ext cx="19050" cy="3049486"/>
            <a:chOff x="0" y="0"/>
            <a:chExt cx="25400" cy="4065981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25400" cy="4066032"/>
            </a:xfrm>
            <a:custGeom>
              <a:avLst/>
              <a:gdLst/>
              <a:ahLst/>
              <a:cxnLst/>
              <a:rect l="l" t="t" r="r" b="b"/>
              <a:pathLst>
                <a:path w="25400" h="4066032">
                  <a:moveTo>
                    <a:pt x="0" y="0"/>
                  </a:moveTo>
                  <a:lnTo>
                    <a:pt x="25400" y="0"/>
                  </a:lnTo>
                  <a:lnTo>
                    <a:pt x="25400" y="4066032"/>
                  </a:lnTo>
                  <a:lnTo>
                    <a:pt x="0" y="4066032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45" name="Group 45"/>
          <p:cNvGrpSpPr/>
          <p:nvPr/>
        </p:nvGrpSpPr>
        <p:grpSpPr>
          <a:xfrm>
            <a:off x="11886905" y="6313589"/>
            <a:ext cx="5486267" cy="19050"/>
            <a:chOff x="0" y="0"/>
            <a:chExt cx="7315022" cy="254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7315073" cy="25400"/>
            </a:xfrm>
            <a:custGeom>
              <a:avLst/>
              <a:gdLst/>
              <a:ahLst/>
              <a:cxnLst/>
              <a:rect l="l" t="t" r="r" b="b"/>
              <a:pathLst>
                <a:path w="7315073" h="25400">
                  <a:moveTo>
                    <a:pt x="0" y="0"/>
                  </a:moveTo>
                  <a:lnTo>
                    <a:pt x="7315073" y="0"/>
                  </a:lnTo>
                  <a:lnTo>
                    <a:pt x="7315073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47" name="Group 47"/>
          <p:cNvGrpSpPr/>
          <p:nvPr/>
        </p:nvGrpSpPr>
        <p:grpSpPr>
          <a:xfrm>
            <a:off x="17113025" y="9741989"/>
            <a:ext cx="1174518" cy="289912"/>
            <a:chOff x="0" y="0"/>
            <a:chExt cx="1566024" cy="38655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566030" cy="386556"/>
            </a:xfrm>
            <a:custGeom>
              <a:avLst/>
              <a:gdLst/>
              <a:ahLst/>
              <a:cxnLst/>
              <a:rect l="l" t="t" r="r" b="b"/>
              <a:pathLst>
                <a:path w="1566030" h="386556">
                  <a:moveTo>
                    <a:pt x="0" y="0"/>
                  </a:moveTo>
                  <a:lnTo>
                    <a:pt x="1566030" y="0"/>
                  </a:lnTo>
                  <a:lnTo>
                    <a:pt x="1566030" y="386556"/>
                  </a:lnTo>
                  <a:lnTo>
                    <a:pt x="0" y="386556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t="-28939" b="-28937"/>
              </a:stretch>
            </a:blipFill>
          </p:spPr>
        </p:sp>
        <p:sp>
          <p:nvSpPr>
            <p:cNvPr id="49" name="TextBox 49"/>
            <p:cNvSpPr txBox="1"/>
            <p:nvPr/>
          </p:nvSpPr>
          <p:spPr>
            <a:xfrm>
              <a:off x="0" y="-38100"/>
              <a:ext cx="1566024" cy="424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86"/>
                </a:lnSpc>
              </a:pPr>
              <a:r>
                <a:rPr lang="en-US" sz="1575" spc="77">
                  <a:solidFill>
                    <a:srgbClr val="899198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06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7090B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2141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14381" y="876300"/>
            <a:ext cx="17373162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/06-futures-and-innovation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381" y="1761087"/>
            <a:ext cx="16458790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83"/>
              </a:lnSpc>
            </a:pPr>
            <a:r>
              <a:rPr lang="en-US" sz="4200" spc="252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FUTURES &amp; INNOVATION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381" y="2427837"/>
            <a:ext cx="16458790" cy="9105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70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The current project combines several interpretable statistical components in one workflow.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381" y="3481235"/>
            <a:ext cx="8000800" cy="32337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Descriptive statistics, correlation, regression, and logistic regression</a:t>
            </a:r>
          </a:p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Independent testing dataset for evaluation</a:t>
            </a:r>
          </a:p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Interactive R Shiny inputs and outputs</a:t>
            </a:r>
          </a:p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Predicted probability, not only a raw class value</a:t>
            </a:r>
          </a:p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Confusion matrix and ROC-AUC evaluation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4762" y="3738410"/>
            <a:ext cx="2362143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9"/>
              </a:lnSpc>
            </a:pPr>
            <a:r>
              <a:rPr lang="en-US" sz="5100" b="1" spc="-127">
                <a:solidFill>
                  <a:srgbClr val="5AD4E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0.9525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524762" y="4528985"/>
            <a:ext cx="2514533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AUC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191695" y="3738410"/>
            <a:ext cx="2362143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9"/>
              </a:lnSpc>
            </a:pPr>
            <a:r>
              <a:rPr lang="en-US" sz="5100" b="1" spc="-127">
                <a:solidFill>
                  <a:srgbClr val="5AD4E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95.37%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191695" y="4528985"/>
            <a:ext cx="2514533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ACCURACY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858629" y="3738410"/>
            <a:ext cx="2362143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9"/>
              </a:lnSpc>
            </a:pPr>
            <a:r>
              <a:rPr lang="en-US" sz="5100" b="1" spc="-127">
                <a:solidFill>
                  <a:srgbClr val="5AD4E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63.48%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858629" y="4528985"/>
            <a:ext cx="2514533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SENSITIVITY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524762" y="5170884"/>
            <a:ext cx="2362143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9"/>
              </a:lnSpc>
            </a:pPr>
            <a:r>
              <a:rPr lang="en-US" sz="5100" b="1" spc="-127">
                <a:solidFill>
                  <a:srgbClr val="5AD4E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99.09%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524762" y="5961459"/>
            <a:ext cx="2514533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SPECIFICITY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191695" y="5170884"/>
            <a:ext cx="2362143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9"/>
              </a:lnSpc>
            </a:pPr>
            <a:r>
              <a:rPr lang="en-US" sz="5100" b="1" spc="-127">
                <a:solidFill>
                  <a:srgbClr val="5AD4E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89.02%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191695" y="5961459"/>
            <a:ext cx="2514533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PRECISION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858629" y="5170884"/>
            <a:ext cx="2362143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9"/>
              </a:lnSpc>
            </a:pPr>
            <a:r>
              <a:rPr lang="en-US" sz="5100" b="1" spc="-127">
                <a:solidFill>
                  <a:srgbClr val="5AD4E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74.11%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858629" y="5961459"/>
            <a:ext cx="2514533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F1</a:t>
            </a:r>
          </a:p>
        </p:txBody>
      </p:sp>
      <p:graphicFrame>
        <p:nvGraphicFramePr>
          <p:cNvPr id="22" name="Table 22"/>
          <p:cNvGraphicFramePr>
            <a:graphicFrameLocks noGrp="1"/>
          </p:cNvGraphicFramePr>
          <p:nvPr/>
        </p:nvGraphicFramePr>
        <p:xfrm>
          <a:off x="9372366" y="6584305"/>
          <a:ext cx="7962900" cy="2343150"/>
        </p:xfrm>
        <a:graphic>
          <a:graphicData uri="http://schemas.openxmlformats.org/drawingml/2006/table">
            <a:tbl>
              <a:tblPr/>
              <a:tblGrid>
                <a:gridCol w="27592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1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14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1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73423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spc="135">
                          <a:solidFill>
                            <a:srgbClr val="F2F0E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DATA SPLIT</a:t>
                      </a:r>
                      <a:endParaRPr lang="en-US" sz="1100"/>
                    </a:p>
                  </a:txBody>
                  <a:tcPr marL="126997" marR="126997" marT="126997" marB="126997" anchor="ctr">
                    <a:lnL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1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4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spc="135">
                          <a:solidFill>
                            <a:srgbClr val="F2F0E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TN</a:t>
                      </a:r>
                      <a:endParaRPr lang="en-US" sz="1100"/>
                    </a:p>
                  </a:txBody>
                  <a:tcPr marL="126997" marR="126997" marT="126997" marB="126997" anchor="ctr">
                    <a:lnL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1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4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spc="135">
                          <a:solidFill>
                            <a:srgbClr val="F2F0E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FP</a:t>
                      </a:r>
                      <a:endParaRPr lang="en-US" sz="1100"/>
                    </a:p>
                  </a:txBody>
                  <a:tcPr marL="126997" marR="126997" marT="126997" marB="126997" anchor="ctr">
                    <a:lnL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1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4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spc="135">
                          <a:solidFill>
                            <a:srgbClr val="F2F0E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FN</a:t>
                      </a:r>
                      <a:endParaRPr lang="en-US" sz="1100"/>
                    </a:p>
                  </a:txBody>
                  <a:tcPr marL="126997" marR="126997" marT="126997" marB="126997" anchor="ctr">
                    <a:lnL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1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4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 spc="135">
                          <a:solidFill>
                            <a:srgbClr val="F2F0E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TP</a:t>
                      </a:r>
                      <a:endParaRPr lang="en-US" sz="1100"/>
                    </a:p>
                  </a:txBody>
                  <a:tcPr marL="126997" marR="126997" marT="126997" marB="126997" anchor="ctr">
                    <a:lnL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1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4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6972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F2F0E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Training: 4,399 · Testing: 1,101</a:t>
                      </a:r>
                      <a:endParaRPr lang="en-US" sz="1100"/>
                    </a:p>
                  </a:txBody>
                  <a:tcPr marL="126997" marR="126997" marT="126997" marB="126997" anchor="ctr">
                    <a:lnL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1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4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F2F0E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977</a:t>
                      </a:r>
                      <a:endParaRPr lang="en-US" sz="1100"/>
                    </a:p>
                  </a:txBody>
                  <a:tcPr marL="126997" marR="126997" marT="126997" marB="126997" anchor="ctr">
                    <a:lnL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1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4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F2F0E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9</a:t>
                      </a:r>
                      <a:endParaRPr lang="en-US" sz="1100"/>
                    </a:p>
                  </a:txBody>
                  <a:tcPr marL="126997" marR="126997" marT="126997" marB="126997" anchor="ctr">
                    <a:lnL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1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4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F2F0E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42</a:t>
                      </a:r>
                      <a:endParaRPr lang="en-US" sz="1100"/>
                    </a:p>
                  </a:txBody>
                  <a:tcPr marL="126997" marR="126997" marT="126997" marB="126997" anchor="ctr">
                    <a:lnL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1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41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  <a:defRPr/>
                      </a:pPr>
                      <a:r>
                        <a:rPr lang="en-US" sz="2250">
                          <a:solidFill>
                            <a:srgbClr val="F2F0E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73</a:t>
                      </a:r>
                      <a:endParaRPr lang="en-US" sz="1100"/>
                    </a:p>
                  </a:txBody>
                  <a:tcPr marL="126997" marR="126997" marT="126997" marB="126997" anchor="ctr">
                    <a:lnL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1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214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4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3" name="Group 23"/>
          <p:cNvGrpSpPr/>
          <p:nvPr/>
        </p:nvGrpSpPr>
        <p:grpSpPr>
          <a:xfrm>
            <a:off x="17113025" y="9741989"/>
            <a:ext cx="1174518" cy="289912"/>
            <a:chOff x="0" y="0"/>
            <a:chExt cx="1566024" cy="38655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566030" cy="386556"/>
            </a:xfrm>
            <a:custGeom>
              <a:avLst/>
              <a:gdLst/>
              <a:ahLst/>
              <a:cxnLst/>
              <a:rect l="l" t="t" r="r" b="b"/>
              <a:pathLst>
                <a:path w="1566030" h="386556">
                  <a:moveTo>
                    <a:pt x="0" y="0"/>
                  </a:moveTo>
                  <a:lnTo>
                    <a:pt x="1566030" y="0"/>
                  </a:lnTo>
                  <a:lnTo>
                    <a:pt x="1566030" y="386556"/>
                  </a:lnTo>
                  <a:lnTo>
                    <a:pt x="0" y="386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939" b="-28937"/>
              </a:stretch>
            </a:blipFill>
          </p:spPr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1566024" cy="424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86"/>
                </a:lnSpc>
              </a:pPr>
              <a:r>
                <a:rPr lang="en-US" sz="1575" spc="77">
                  <a:solidFill>
                    <a:srgbClr val="899198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07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7090B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2141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14381" y="876300"/>
            <a:ext cx="17373162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/07-impact-and-future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381" y="1761087"/>
            <a:ext cx="16458790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83"/>
              </a:lnSpc>
            </a:pPr>
            <a:r>
              <a:rPr lang="en-US" sz="4200" spc="252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IMPACT &amp; FUTURE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381" y="2799312"/>
            <a:ext cx="8229390" cy="279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1"/>
              </a:lnSpc>
            </a:pPr>
            <a:r>
              <a:rPr lang="en-US" sz="1575" b="1" spc="118">
                <a:solidFill>
                  <a:srgbClr val="B6E35A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IMPACT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381" y="3159328"/>
            <a:ext cx="7696010" cy="54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What the workflow demonstrates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4381" y="3860302"/>
            <a:ext cx="7696010" cy="3648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Applies statistical modelling to healthcare data.</a:t>
            </a:r>
          </a:p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Turns patient data into measurable insights.</a:t>
            </a:r>
          </a:p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Provides model-based diabetes risk predictions.</a:t>
            </a:r>
          </a:p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Demonstrates multi-metric evaluation.</a:t>
            </a:r>
          </a:p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Creates a reproducible R workflow.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677162" y="2799312"/>
            <a:ext cx="7696010" cy="279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1"/>
              </a:lnSpc>
            </a:pPr>
            <a:r>
              <a:rPr lang="en-US" sz="1575" b="1" spc="118">
                <a:solidFill>
                  <a:srgbClr val="F0C45A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FUTURE SCOPE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677162" y="3159328"/>
            <a:ext cx="7696010" cy="54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Where the project can extend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677162" y="3860302"/>
            <a:ext cx="7696010" cy="233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Extend to additional diseases.</a:t>
            </a:r>
          </a:p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 larger, more diverse datasets.</a:t>
            </a:r>
          </a:p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Compare additional modelling techniques.</a:t>
            </a:r>
          </a:p>
          <a:p>
            <a:pPr marL="407194" lvl="1" indent="-203597" algn="l">
              <a:lnSpc>
                <a:spcPts val="3267"/>
              </a:lnSpc>
              <a:buFont typeface="Arial"/>
              <a:buChar char="•"/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Improve validation, UX, deployment, visualization, and interpretation.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134246" y="2475462"/>
            <a:ext cx="19050" cy="6897138"/>
            <a:chOff x="0" y="0"/>
            <a:chExt cx="25400" cy="919618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5400" cy="9196197"/>
            </a:xfrm>
            <a:custGeom>
              <a:avLst/>
              <a:gdLst/>
              <a:ahLst/>
              <a:cxnLst/>
              <a:rect l="l" t="t" r="r" b="b"/>
              <a:pathLst>
                <a:path w="25400" h="9196197">
                  <a:moveTo>
                    <a:pt x="0" y="0"/>
                  </a:moveTo>
                  <a:lnTo>
                    <a:pt x="25400" y="0"/>
                  </a:lnTo>
                  <a:lnTo>
                    <a:pt x="25400" y="9196197"/>
                  </a:lnTo>
                  <a:lnTo>
                    <a:pt x="0" y="9196197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16" name="Group 16"/>
          <p:cNvGrpSpPr/>
          <p:nvPr/>
        </p:nvGrpSpPr>
        <p:grpSpPr>
          <a:xfrm>
            <a:off x="17113025" y="9741989"/>
            <a:ext cx="1174518" cy="289912"/>
            <a:chOff x="0" y="0"/>
            <a:chExt cx="1566024" cy="38655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566030" cy="386556"/>
            </a:xfrm>
            <a:custGeom>
              <a:avLst/>
              <a:gdLst/>
              <a:ahLst/>
              <a:cxnLst/>
              <a:rect l="l" t="t" r="r" b="b"/>
              <a:pathLst>
                <a:path w="1566030" h="386556">
                  <a:moveTo>
                    <a:pt x="0" y="0"/>
                  </a:moveTo>
                  <a:lnTo>
                    <a:pt x="1566030" y="0"/>
                  </a:lnTo>
                  <a:lnTo>
                    <a:pt x="1566030" y="386556"/>
                  </a:lnTo>
                  <a:lnTo>
                    <a:pt x="0" y="386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939" b="-28937"/>
              </a:stretch>
            </a:blip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1566024" cy="424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86"/>
                </a:lnSpc>
              </a:pPr>
              <a:r>
                <a:rPr lang="en-US" sz="1575" spc="77">
                  <a:solidFill>
                    <a:srgbClr val="899198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08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7090B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2141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14381" y="876300"/>
            <a:ext cx="10378269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/08-conclusion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381" y="1761087"/>
            <a:ext cx="9463897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83"/>
              </a:lnSpc>
            </a:pPr>
            <a:r>
              <a:rPr lang="en-US" sz="4200" spc="252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CONCLUSION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09618" y="2689774"/>
            <a:ext cx="657206" cy="509588"/>
            <a:chOff x="0" y="0"/>
            <a:chExt cx="876275" cy="6794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76300" cy="679450"/>
            </a:xfrm>
            <a:custGeom>
              <a:avLst/>
              <a:gdLst/>
              <a:ahLst/>
              <a:cxnLst/>
              <a:rect l="l" t="t" r="r" b="b"/>
              <a:pathLst>
                <a:path w="876300" h="679450">
                  <a:moveTo>
                    <a:pt x="0" y="116459"/>
                  </a:moveTo>
                  <a:cubicBezTo>
                    <a:pt x="0" y="52197"/>
                    <a:pt x="52197" y="0"/>
                    <a:pt x="116459" y="0"/>
                  </a:cubicBezTo>
                  <a:lnTo>
                    <a:pt x="759841" y="0"/>
                  </a:lnTo>
                  <a:cubicBezTo>
                    <a:pt x="824103" y="0"/>
                    <a:pt x="876300" y="52197"/>
                    <a:pt x="876300" y="116459"/>
                  </a:cubicBezTo>
                  <a:lnTo>
                    <a:pt x="876300" y="562991"/>
                  </a:lnTo>
                  <a:cubicBezTo>
                    <a:pt x="876300" y="627253"/>
                    <a:pt x="824103" y="679450"/>
                    <a:pt x="759841" y="679450"/>
                  </a:cubicBezTo>
                  <a:lnTo>
                    <a:pt x="116459" y="679450"/>
                  </a:lnTo>
                  <a:cubicBezTo>
                    <a:pt x="52197" y="679450"/>
                    <a:pt x="0" y="627253"/>
                    <a:pt x="0" y="562991"/>
                  </a:cubicBezTo>
                  <a:close/>
                </a:path>
              </a:pathLst>
            </a:custGeom>
            <a:solidFill>
              <a:srgbClr val="5AD4E6"/>
            </a:solidFill>
            <a:ln w="9525" cap="sq">
              <a:solidFill>
                <a:srgbClr val="4A4C4F"/>
              </a:solidFill>
              <a:prstDash val="solid"/>
              <a:miter/>
            </a:ln>
          </p:spPr>
        </p:sp>
      </p:grpSp>
      <p:sp>
        <p:nvSpPr>
          <p:cNvPr id="10" name="TextBox 10"/>
          <p:cNvSpPr txBox="1"/>
          <p:nvPr/>
        </p:nvSpPr>
        <p:spPr>
          <a:xfrm>
            <a:off x="1066771" y="2849318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47802" y="2696918"/>
            <a:ext cx="8530466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Statistical modelling reveals patterns in diabetes-related patient data.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09618" y="3873256"/>
            <a:ext cx="657206" cy="509588"/>
            <a:chOff x="0" y="0"/>
            <a:chExt cx="876275" cy="67945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76300" cy="679450"/>
            </a:xfrm>
            <a:custGeom>
              <a:avLst/>
              <a:gdLst/>
              <a:ahLst/>
              <a:cxnLst/>
              <a:rect l="l" t="t" r="r" b="b"/>
              <a:pathLst>
                <a:path w="876300" h="679450">
                  <a:moveTo>
                    <a:pt x="0" y="116459"/>
                  </a:moveTo>
                  <a:cubicBezTo>
                    <a:pt x="0" y="52197"/>
                    <a:pt x="52197" y="0"/>
                    <a:pt x="116459" y="0"/>
                  </a:cubicBezTo>
                  <a:lnTo>
                    <a:pt x="759841" y="0"/>
                  </a:lnTo>
                  <a:cubicBezTo>
                    <a:pt x="824103" y="0"/>
                    <a:pt x="876300" y="52197"/>
                    <a:pt x="876300" y="116459"/>
                  </a:cubicBezTo>
                  <a:lnTo>
                    <a:pt x="876300" y="562991"/>
                  </a:lnTo>
                  <a:cubicBezTo>
                    <a:pt x="876300" y="627253"/>
                    <a:pt x="824103" y="679450"/>
                    <a:pt x="759841" y="679450"/>
                  </a:cubicBezTo>
                  <a:lnTo>
                    <a:pt x="116459" y="679450"/>
                  </a:lnTo>
                  <a:cubicBezTo>
                    <a:pt x="52197" y="679450"/>
                    <a:pt x="0" y="627253"/>
                    <a:pt x="0" y="562991"/>
                  </a:cubicBezTo>
                  <a:close/>
                </a:path>
              </a:pathLst>
            </a:custGeom>
            <a:solidFill>
              <a:srgbClr val="5AD4E6"/>
            </a:solidFill>
            <a:ln w="9525" cap="sq">
              <a:solidFill>
                <a:srgbClr val="4A4C4F"/>
              </a:solidFill>
              <a:prstDash val="solid"/>
              <a:miter/>
            </a:ln>
          </p:spPr>
        </p:sp>
      </p:grpSp>
      <p:sp>
        <p:nvSpPr>
          <p:cNvPr id="14" name="TextBox 14"/>
          <p:cNvSpPr txBox="1"/>
          <p:nvPr/>
        </p:nvSpPr>
        <p:spPr>
          <a:xfrm>
            <a:off x="1066771" y="4032799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47802" y="3880399"/>
            <a:ext cx="8530466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Descriptive statistics and correlation build understanding.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09618" y="5056737"/>
            <a:ext cx="657206" cy="509588"/>
            <a:chOff x="0" y="0"/>
            <a:chExt cx="876275" cy="67945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6300" cy="679450"/>
            </a:xfrm>
            <a:custGeom>
              <a:avLst/>
              <a:gdLst/>
              <a:ahLst/>
              <a:cxnLst/>
              <a:rect l="l" t="t" r="r" b="b"/>
              <a:pathLst>
                <a:path w="876300" h="679450">
                  <a:moveTo>
                    <a:pt x="0" y="116459"/>
                  </a:moveTo>
                  <a:cubicBezTo>
                    <a:pt x="0" y="52197"/>
                    <a:pt x="52197" y="0"/>
                    <a:pt x="116459" y="0"/>
                  </a:cubicBezTo>
                  <a:lnTo>
                    <a:pt x="759841" y="0"/>
                  </a:lnTo>
                  <a:cubicBezTo>
                    <a:pt x="824103" y="0"/>
                    <a:pt x="876300" y="52197"/>
                    <a:pt x="876300" y="116459"/>
                  </a:cubicBezTo>
                  <a:lnTo>
                    <a:pt x="876300" y="562991"/>
                  </a:lnTo>
                  <a:cubicBezTo>
                    <a:pt x="876300" y="627253"/>
                    <a:pt x="824103" y="679450"/>
                    <a:pt x="759841" y="679450"/>
                  </a:cubicBezTo>
                  <a:lnTo>
                    <a:pt x="116459" y="679450"/>
                  </a:lnTo>
                  <a:cubicBezTo>
                    <a:pt x="52197" y="679450"/>
                    <a:pt x="0" y="627253"/>
                    <a:pt x="0" y="562991"/>
                  </a:cubicBezTo>
                  <a:close/>
                </a:path>
              </a:pathLst>
            </a:custGeom>
            <a:solidFill>
              <a:srgbClr val="5AD4E6"/>
            </a:solidFill>
            <a:ln w="9525" cap="sq">
              <a:solidFill>
                <a:srgbClr val="4A4C4F"/>
              </a:solidFill>
              <a:prstDash val="solid"/>
              <a:miter/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1066771" y="5216281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847802" y="5063881"/>
            <a:ext cx="8530466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Regression analyzes relationships among variables.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909618" y="6240218"/>
            <a:ext cx="657206" cy="509588"/>
            <a:chOff x="0" y="0"/>
            <a:chExt cx="876275" cy="67945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76300" cy="679450"/>
            </a:xfrm>
            <a:custGeom>
              <a:avLst/>
              <a:gdLst/>
              <a:ahLst/>
              <a:cxnLst/>
              <a:rect l="l" t="t" r="r" b="b"/>
              <a:pathLst>
                <a:path w="876300" h="679450">
                  <a:moveTo>
                    <a:pt x="0" y="116459"/>
                  </a:moveTo>
                  <a:cubicBezTo>
                    <a:pt x="0" y="52197"/>
                    <a:pt x="52197" y="0"/>
                    <a:pt x="116459" y="0"/>
                  </a:cubicBezTo>
                  <a:lnTo>
                    <a:pt x="759841" y="0"/>
                  </a:lnTo>
                  <a:cubicBezTo>
                    <a:pt x="824103" y="0"/>
                    <a:pt x="876300" y="52197"/>
                    <a:pt x="876300" y="116459"/>
                  </a:cubicBezTo>
                  <a:lnTo>
                    <a:pt x="876300" y="562991"/>
                  </a:lnTo>
                  <a:cubicBezTo>
                    <a:pt x="876300" y="627253"/>
                    <a:pt x="824103" y="679450"/>
                    <a:pt x="759841" y="679450"/>
                  </a:cubicBezTo>
                  <a:lnTo>
                    <a:pt x="116459" y="679450"/>
                  </a:lnTo>
                  <a:cubicBezTo>
                    <a:pt x="52197" y="679450"/>
                    <a:pt x="0" y="627253"/>
                    <a:pt x="0" y="562991"/>
                  </a:cubicBezTo>
                  <a:close/>
                </a:path>
              </a:pathLst>
            </a:custGeom>
            <a:solidFill>
              <a:srgbClr val="5AD4E6"/>
            </a:solidFill>
            <a:ln w="9525" cap="sq">
              <a:solidFill>
                <a:srgbClr val="4A4C4F"/>
              </a:solidFill>
              <a:prstDash val="solid"/>
              <a:miter/>
            </a:ln>
          </p:spPr>
        </p:sp>
      </p:grpSp>
      <p:sp>
        <p:nvSpPr>
          <p:cNvPr id="22" name="TextBox 22"/>
          <p:cNvSpPr txBox="1"/>
          <p:nvPr/>
        </p:nvSpPr>
        <p:spPr>
          <a:xfrm>
            <a:off x="1066771" y="6399762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847802" y="6247362"/>
            <a:ext cx="8530466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Logistic regression produces model-based predicted diabetes risk.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09618" y="7423699"/>
            <a:ext cx="657206" cy="509588"/>
            <a:chOff x="0" y="0"/>
            <a:chExt cx="876275" cy="67945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76300" cy="679450"/>
            </a:xfrm>
            <a:custGeom>
              <a:avLst/>
              <a:gdLst/>
              <a:ahLst/>
              <a:cxnLst/>
              <a:rect l="l" t="t" r="r" b="b"/>
              <a:pathLst>
                <a:path w="876300" h="679450">
                  <a:moveTo>
                    <a:pt x="0" y="116459"/>
                  </a:moveTo>
                  <a:cubicBezTo>
                    <a:pt x="0" y="52197"/>
                    <a:pt x="52197" y="0"/>
                    <a:pt x="116459" y="0"/>
                  </a:cubicBezTo>
                  <a:lnTo>
                    <a:pt x="759841" y="0"/>
                  </a:lnTo>
                  <a:cubicBezTo>
                    <a:pt x="824103" y="0"/>
                    <a:pt x="876300" y="52197"/>
                    <a:pt x="876300" y="116459"/>
                  </a:cubicBezTo>
                  <a:lnTo>
                    <a:pt x="876300" y="562991"/>
                  </a:lnTo>
                  <a:cubicBezTo>
                    <a:pt x="876300" y="627253"/>
                    <a:pt x="824103" y="679450"/>
                    <a:pt x="759841" y="679450"/>
                  </a:cubicBezTo>
                  <a:lnTo>
                    <a:pt x="116459" y="679450"/>
                  </a:lnTo>
                  <a:cubicBezTo>
                    <a:pt x="52197" y="679450"/>
                    <a:pt x="0" y="627253"/>
                    <a:pt x="0" y="562991"/>
                  </a:cubicBezTo>
                  <a:close/>
                </a:path>
              </a:pathLst>
            </a:custGeom>
            <a:solidFill>
              <a:srgbClr val="5AD4E6"/>
            </a:solidFill>
            <a:ln w="9525" cap="sq">
              <a:solidFill>
                <a:srgbClr val="4A4C4F"/>
              </a:solidFill>
              <a:prstDash val="solid"/>
              <a:miter/>
            </a:ln>
          </p:spPr>
        </p:sp>
      </p:grpSp>
      <p:sp>
        <p:nvSpPr>
          <p:cNvPr id="26" name="TextBox 26"/>
          <p:cNvSpPr txBox="1"/>
          <p:nvPr/>
        </p:nvSpPr>
        <p:spPr>
          <a:xfrm>
            <a:off x="1066771" y="7583243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847802" y="7430843"/>
            <a:ext cx="8530466" cy="461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An independent test dataset supports evaluation.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09618" y="8228562"/>
            <a:ext cx="657206" cy="509588"/>
            <a:chOff x="0" y="0"/>
            <a:chExt cx="876275" cy="67945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76300" cy="679450"/>
            </a:xfrm>
            <a:custGeom>
              <a:avLst/>
              <a:gdLst/>
              <a:ahLst/>
              <a:cxnLst/>
              <a:rect l="l" t="t" r="r" b="b"/>
              <a:pathLst>
                <a:path w="876300" h="679450">
                  <a:moveTo>
                    <a:pt x="0" y="116459"/>
                  </a:moveTo>
                  <a:cubicBezTo>
                    <a:pt x="0" y="52197"/>
                    <a:pt x="52197" y="0"/>
                    <a:pt x="116459" y="0"/>
                  </a:cubicBezTo>
                  <a:lnTo>
                    <a:pt x="759841" y="0"/>
                  </a:lnTo>
                  <a:cubicBezTo>
                    <a:pt x="824103" y="0"/>
                    <a:pt x="876300" y="52197"/>
                    <a:pt x="876300" y="116459"/>
                  </a:cubicBezTo>
                  <a:lnTo>
                    <a:pt x="876300" y="562991"/>
                  </a:lnTo>
                  <a:cubicBezTo>
                    <a:pt x="876300" y="627253"/>
                    <a:pt x="824103" y="679450"/>
                    <a:pt x="759841" y="679450"/>
                  </a:cubicBezTo>
                  <a:lnTo>
                    <a:pt x="116459" y="679450"/>
                  </a:lnTo>
                  <a:cubicBezTo>
                    <a:pt x="52197" y="679450"/>
                    <a:pt x="0" y="627253"/>
                    <a:pt x="0" y="562991"/>
                  </a:cubicBezTo>
                  <a:close/>
                </a:path>
              </a:pathLst>
            </a:custGeom>
            <a:solidFill>
              <a:srgbClr val="5AD4E6"/>
            </a:solidFill>
            <a:ln w="9525" cap="sq">
              <a:solidFill>
                <a:srgbClr val="4A4C4F"/>
              </a:solidFill>
              <a:prstDash val="solid"/>
              <a:miter/>
            </a:ln>
          </p:spPr>
        </p:sp>
      </p:grpSp>
      <p:sp>
        <p:nvSpPr>
          <p:cNvPr id="30" name="TextBox 30"/>
          <p:cNvSpPr txBox="1"/>
          <p:nvPr/>
        </p:nvSpPr>
        <p:spPr>
          <a:xfrm>
            <a:off x="1066771" y="8388106"/>
            <a:ext cx="1257271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1"/>
              </a:lnSpc>
            </a:pPr>
            <a:r>
              <a:rPr lang="en-US" sz="2250">
                <a:solidFill>
                  <a:srgbClr val="00000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847802" y="8235706"/>
            <a:ext cx="8530466" cy="8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 Shiny makes the workflow interactive and accessible.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749688" y="2122732"/>
            <a:ext cx="6537855" cy="563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700" spc="135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Data → Statistics → Model → </a:t>
            </a:r>
          </a:p>
          <a:p>
            <a:pPr algn="l">
              <a:lnSpc>
                <a:spcPts val="3920"/>
              </a:lnSpc>
            </a:pPr>
            <a:r>
              <a:rPr lang="en-US" sz="2700" spc="135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Prediction → Interface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1749688" y="3571580"/>
            <a:ext cx="2044103" cy="57150"/>
            <a:chOff x="0" y="0"/>
            <a:chExt cx="2725471" cy="762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725420" cy="76200"/>
            </a:xfrm>
            <a:custGeom>
              <a:avLst/>
              <a:gdLst/>
              <a:ahLst/>
              <a:cxnLst/>
              <a:rect l="l" t="t" r="r" b="b"/>
              <a:pathLst>
                <a:path w="2725420" h="76200">
                  <a:moveTo>
                    <a:pt x="0" y="38100"/>
                  </a:moveTo>
                  <a:cubicBezTo>
                    <a:pt x="0" y="17018"/>
                    <a:pt x="17018" y="0"/>
                    <a:pt x="38100" y="0"/>
                  </a:cubicBezTo>
                  <a:lnTo>
                    <a:pt x="2687320" y="0"/>
                  </a:lnTo>
                  <a:cubicBezTo>
                    <a:pt x="2708402" y="0"/>
                    <a:pt x="2725420" y="17018"/>
                    <a:pt x="2725420" y="38100"/>
                  </a:cubicBezTo>
                  <a:cubicBezTo>
                    <a:pt x="2725420" y="59182"/>
                    <a:pt x="2708402" y="76200"/>
                    <a:pt x="2687320" y="76200"/>
                  </a:cubicBezTo>
                  <a:lnTo>
                    <a:pt x="38100" y="76200"/>
                  </a:lnTo>
                  <a:cubicBezTo>
                    <a:pt x="17018" y="76200"/>
                    <a:pt x="0" y="59182"/>
                    <a:pt x="0" y="38100"/>
                  </a:cubicBezTo>
                  <a:close/>
                </a:path>
              </a:pathLst>
            </a:custGeom>
            <a:solidFill>
              <a:srgbClr val="5AD4E6"/>
            </a:solidFill>
          </p:spPr>
        </p:sp>
      </p:grpSp>
      <p:sp>
        <p:nvSpPr>
          <p:cNvPr id="35" name="TextBox 35"/>
          <p:cNvSpPr txBox="1"/>
          <p:nvPr/>
        </p:nvSpPr>
        <p:spPr>
          <a:xfrm>
            <a:off x="11749688" y="4143080"/>
            <a:ext cx="6194965" cy="2628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82"/>
              </a:lnSpc>
            </a:pPr>
            <a:r>
              <a:rPr lang="en-US" sz="3150" b="1">
                <a:solidFill>
                  <a:srgbClr val="F2F0E8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Statistical modelling transforms patient data into interpretable analytical and predictive insights.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749688" y="6933600"/>
            <a:ext cx="6194965" cy="597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Predictions are for educational and project purposes only and are not a medical diagnosis.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914381" y="3716093"/>
            <a:ext cx="9463897" cy="19050"/>
            <a:chOff x="0" y="0"/>
            <a:chExt cx="12618530" cy="254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2618466" cy="25400"/>
            </a:xfrm>
            <a:custGeom>
              <a:avLst/>
              <a:gdLst/>
              <a:ahLst/>
              <a:cxnLst/>
              <a:rect l="l" t="t" r="r" b="b"/>
              <a:pathLst>
                <a:path w="12618466" h="25400">
                  <a:moveTo>
                    <a:pt x="0" y="0"/>
                  </a:moveTo>
                  <a:lnTo>
                    <a:pt x="12618466" y="0"/>
                  </a:lnTo>
                  <a:lnTo>
                    <a:pt x="12618466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39" name="Group 39"/>
          <p:cNvGrpSpPr/>
          <p:nvPr/>
        </p:nvGrpSpPr>
        <p:grpSpPr>
          <a:xfrm>
            <a:off x="914381" y="4899574"/>
            <a:ext cx="9463897" cy="19050"/>
            <a:chOff x="0" y="0"/>
            <a:chExt cx="12618530" cy="254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2618466" cy="25400"/>
            </a:xfrm>
            <a:custGeom>
              <a:avLst/>
              <a:gdLst/>
              <a:ahLst/>
              <a:cxnLst/>
              <a:rect l="l" t="t" r="r" b="b"/>
              <a:pathLst>
                <a:path w="12618466" h="25400">
                  <a:moveTo>
                    <a:pt x="0" y="0"/>
                  </a:moveTo>
                  <a:lnTo>
                    <a:pt x="12618466" y="0"/>
                  </a:lnTo>
                  <a:lnTo>
                    <a:pt x="12618466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41" name="Group 41"/>
          <p:cNvGrpSpPr/>
          <p:nvPr/>
        </p:nvGrpSpPr>
        <p:grpSpPr>
          <a:xfrm>
            <a:off x="914381" y="6083056"/>
            <a:ext cx="9463897" cy="19050"/>
            <a:chOff x="0" y="0"/>
            <a:chExt cx="12618530" cy="254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2618466" cy="25400"/>
            </a:xfrm>
            <a:custGeom>
              <a:avLst/>
              <a:gdLst/>
              <a:ahLst/>
              <a:cxnLst/>
              <a:rect l="l" t="t" r="r" b="b"/>
              <a:pathLst>
                <a:path w="12618466" h="25400">
                  <a:moveTo>
                    <a:pt x="0" y="0"/>
                  </a:moveTo>
                  <a:lnTo>
                    <a:pt x="12618466" y="0"/>
                  </a:lnTo>
                  <a:lnTo>
                    <a:pt x="12618466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43" name="Group 43"/>
          <p:cNvGrpSpPr/>
          <p:nvPr/>
        </p:nvGrpSpPr>
        <p:grpSpPr>
          <a:xfrm>
            <a:off x="914381" y="7266537"/>
            <a:ext cx="9463897" cy="19050"/>
            <a:chOff x="0" y="0"/>
            <a:chExt cx="12618530" cy="254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2618466" cy="25400"/>
            </a:xfrm>
            <a:custGeom>
              <a:avLst/>
              <a:gdLst/>
              <a:ahLst/>
              <a:cxnLst/>
              <a:rect l="l" t="t" r="r" b="b"/>
              <a:pathLst>
                <a:path w="12618466" h="25400">
                  <a:moveTo>
                    <a:pt x="0" y="0"/>
                  </a:moveTo>
                  <a:lnTo>
                    <a:pt x="12618466" y="0"/>
                  </a:lnTo>
                  <a:lnTo>
                    <a:pt x="12618466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45" name="Group 45"/>
          <p:cNvGrpSpPr/>
          <p:nvPr/>
        </p:nvGrpSpPr>
        <p:grpSpPr>
          <a:xfrm>
            <a:off x="914381" y="8071399"/>
            <a:ext cx="9463897" cy="19050"/>
            <a:chOff x="0" y="0"/>
            <a:chExt cx="12618530" cy="254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618466" cy="25400"/>
            </a:xfrm>
            <a:custGeom>
              <a:avLst/>
              <a:gdLst/>
              <a:ahLst/>
              <a:cxnLst/>
              <a:rect l="l" t="t" r="r" b="b"/>
              <a:pathLst>
                <a:path w="12618466" h="25400">
                  <a:moveTo>
                    <a:pt x="0" y="0"/>
                  </a:moveTo>
                  <a:lnTo>
                    <a:pt x="12618466" y="0"/>
                  </a:lnTo>
                  <a:lnTo>
                    <a:pt x="12618466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A5158"/>
            </a:solidFill>
          </p:spPr>
        </p:sp>
      </p:grpSp>
      <p:grpSp>
        <p:nvGrpSpPr>
          <p:cNvPr id="47" name="Group 47"/>
          <p:cNvGrpSpPr/>
          <p:nvPr/>
        </p:nvGrpSpPr>
        <p:grpSpPr>
          <a:xfrm>
            <a:off x="17113025" y="9741989"/>
            <a:ext cx="1174518" cy="289912"/>
            <a:chOff x="0" y="0"/>
            <a:chExt cx="1566024" cy="38655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566030" cy="386556"/>
            </a:xfrm>
            <a:custGeom>
              <a:avLst/>
              <a:gdLst/>
              <a:ahLst/>
              <a:cxnLst/>
              <a:rect l="l" t="t" r="r" b="b"/>
              <a:pathLst>
                <a:path w="1566030" h="386556">
                  <a:moveTo>
                    <a:pt x="0" y="0"/>
                  </a:moveTo>
                  <a:lnTo>
                    <a:pt x="1566030" y="0"/>
                  </a:lnTo>
                  <a:lnTo>
                    <a:pt x="1566030" y="386556"/>
                  </a:lnTo>
                  <a:lnTo>
                    <a:pt x="0" y="386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939" b="-28937"/>
              </a:stretch>
            </a:blipFill>
          </p:spPr>
        </p:sp>
        <p:sp>
          <p:nvSpPr>
            <p:cNvPr id="49" name="TextBox 49"/>
            <p:cNvSpPr txBox="1"/>
            <p:nvPr/>
          </p:nvSpPr>
          <p:spPr>
            <a:xfrm>
              <a:off x="0" y="-38100"/>
              <a:ext cx="1566024" cy="424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86"/>
                </a:lnSpc>
              </a:pPr>
              <a:r>
                <a:rPr lang="en-US" sz="1575" spc="77">
                  <a:solidFill>
                    <a:srgbClr val="899198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09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7090B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7543" cy="10287000"/>
            <a:chOff x="0" y="0"/>
            <a:chExt cx="2438339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3364" cy="13716000"/>
            </a:xfrm>
            <a:custGeom>
              <a:avLst/>
              <a:gdLst/>
              <a:ahLst/>
              <a:cxnLst/>
              <a:rect l="l" t="t" r="r" b="b"/>
              <a:pathLst>
                <a:path w="24383364" h="13716000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2141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14381" y="876300"/>
            <a:ext cx="10667733" cy="31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77">
                <a:solidFill>
                  <a:srgbClr val="B6E35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A&gt;_</a:t>
            </a:r>
            <a:r>
              <a:rPr lang="en-US" sz="1575" spc="77">
                <a:solidFill>
                  <a:srgbClr val="5AD4E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/discussion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381" y="1956349"/>
            <a:ext cx="9753352" cy="2171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62"/>
              </a:lnSpc>
            </a:pPr>
            <a:r>
              <a:rPr lang="en-US" sz="9300" b="1" spc="-232">
                <a:solidFill>
                  <a:srgbClr val="F2F0E8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THANK</a:t>
            </a:r>
          </a:p>
          <a:p>
            <a:pPr algn="l">
              <a:lnSpc>
                <a:spcPts val="9262"/>
              </a:lnSpc>
            </a:pPr>
            <a:r>
              <a:rPr lang="en-US" sz="9300" b="1" spc="-232">
                <a:solidFill>
                  <a:srgbClr val="F2F0E8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YOU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4381" y="4470949"/>
            <a:ext cx="9753352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83"/>
              </a:lnSpc>
            </a:pPr>
            <a:r>
              <a:rPr lang="en-US" sz="4200" spc="252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QUESTIONS &amp; DISCUSSION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381" y="7999362"/>
            <a:ext cx="9753352" cy="1373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Disease Risk Prediction Using Statistical Modelling</a:t>
            </a:r>
          </a:p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Statistical Modeling for Machine Learning (SML)</a:t>
            </a:r>
          </a:p>
          <a:p>
            <a:pPr algn="l">
              <a:lnSpc>
                <a:spcPts val="2211"/>
              </a:lnSpc>
            </a:pPr>
            <a:r>
              <a:rPr lang="en-US" sz="1575" spc="15">
                <a:solidFill>
                  <a:srgbClr val="89919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Agnel Polytechnic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039295" y="6902796"/>
            <a:ext cx="6248248" cy="279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1"/>
              </a:lnSpc>
            </a:pPr>
            <a:r>
              <a:rPr lang="en-US" sz="1575" b="1" spc="118">
                <a:solidFill>
                  <a:srgbClr val="B6E35A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PROJECT TEAM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039295" y="7381875"/>
            <a:ext cx="5791057" cy="16550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7"/>
              </a:lnSpc>
            </a:pPr>
            <a:r>
              <a:rPr lang="en-US" sz="2250" dirty="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Nirbhay More  (25935)</a:t>
            </a:r>
          </a:p>
          <a:p>
            <a:pPr>
              <a:lnSpc>
                <a:spcPts val="3267"/>
              </a:lnSpc>
            </a:pPr>
            <a:r>
              <a:rPr lang="en-US" sz="2250" dirty="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Gaus Mulla    (25936)</a:t>
            </a:r>
          </a:p>
          <a:p>
            <a:pPr>
              <a:lnSpc>
                <a:spcPts val="3267"/>
              </a:lnSpc>
            </a:pPr>
            <a:r>
              <a:rPr lang="en-US" sz="2250" dirty="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Gitesh </a:t>
            </a:r>
            <a:r>
              <a:rPr lang="en-US" sz="2250" dirty="0" err="1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Netkar</a:t>
            </a:r>
            <a:r>
              <a:rPr lang="en-US" sz="2250" dirty="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(25938)</a:t>
            </a:r>
          </a:p>
          <a:p>
            <a:pPr>
              <a:lnSpc>
                <a:spcPts val="3267"/>
              </a:lnSpc>
            </a:pPr>
            <a:r>
              <a:rPr lang="en-US" sz="2250" dirty="0">
                <a:solidFill>
                  <a:srgbClr val="F2F0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Sai Nimbalkar (25939)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7113025" y="9741989"/>
            <a:ext cx="1174518" cy="289912"/>
            <a:chOff x="0" y="0"/>
            <a:chExt cx="1566024" cy="38655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566030" cy="386556"/>
            </a:xfrm>
            <a:custGeom>
              <a:avLst/>
              <a:gdLst/>
              <a:ahLst/>
              <a:cxnLst/>
              <a:rect l="l" t="t" r="r" b="b"/>
              <a:pathLst>
                <a:path w="1566030" h="386556">
                  <a:moveTo>
                    <a:pt x="0" y="0"/>
                  </a:moveTo>
                  <a:lnTo>
                    <a:pt x="1566030" y="0"/>
                  </a:lnTo>
                  <a:lnTo>
                    <a:pt x="1566030" y="386556"/>
                  </a:lnTo>
                  <a:lnTo>
                    <a:pt x="0" y="3865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8939" b="-28937"/>
              </a:stretch>
            </a:blip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566024" cy="424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286"/>
                </a:lnSpc>
              </a:pPr>
              <a:r>
                <a:rPr lang="en-US" sz="1575" spc="77">
                  <a:solidFill>
                    <a:srgbClr val="899198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10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750</Words>
  <Application>Microsoft Office PowerPoint</Application>
  <PresentationFormat>Custom</PresentationFormat>
  <Paragraphs>209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JetBrains Mono</vt:lpstr>
      <vt:lpstr>JetBrains Mono Bold</vt:lpstr>
      <vt:lpstr>JetBrains Mono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Disease-Risk-Prediction-Using-Statistical-Modelling.pptx</dc:title>
  <cp:lastModifiedBy>DELL</cp:lastModifiedBy>
  <cp:revision>5</cp:revision>
  <dcterms:created xsi:type="dcterms:W3CDTF">2006-08-16T00:00:00Z</dcterms:created>
  <dcterms:modified xsi:type="dcterms:W3CDTF">2026-09-24T08:35:30Z</dcterms:modified>
  <dc:identifier>DAHV7i3OZoU</dc:identifier>
</cp:coreProperties>
</file>